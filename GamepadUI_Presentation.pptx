
<file path=[Content_Types].xml><?xml version="1.0" encoding="utf-8"?>
<Types xmlns="http://schemas.openxmlformats.org/package/2006/content-types">
  <Default Extension="gif" ContentType="image/gi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73" r:id="rId5"/>
    <p:sldId id="274"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617" autoAdjust="0"/>
    <p:restoredTop sz="94610"/>
  </p:normalViewPr>
  <p:slideViewPr>
    <p:cSldViewPr snapToGrid="0" snapToObjects="1">
      <p:cViewPr varScale="1">
        <p:scale>
          <a:sx n="145" d="100"/>
          <a:sy n="145" d="100"/>
        </p:scale>
        <p:origin x="64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4200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1828800" y="3840480"/>
            <a:ext cx="6400800" cy="2286000"/>
          </a:xfrm>
          <a:prstGeom prst="ellipse">
            <a:avLst/>
          </a:prstGeom>
          <a:solidFill>
            <a:srgbClr val="3A2070">
              <a:alpha val="60000"/>
            </a:srgbClr>
          </a:solidFill>
          <a:ln w="12700">
            <a:solidFill>
              <a:srgbClr val="333333"/>
            </a:solidFill>
            <a:prstDash val="solid"/>
          </a:ln>
        </p:spPr>
        <p:txBody>
          <a:bodyPr/>
          <a:lstStyle/>
          <a:p>
            <a:endParaRPr lang="en-GB"/>
          </a:p>
        </p:txBody>
      </p:sp>
      <p:sp>
        <p:nvSpPr>
          <p:cNvPr id="3" name="Shape 1"/>
          <p:cNvSpPr/>
          <p:nvPr/>
        </p:nvSpPr>
        <p:spPr>
          <a:xfrm>
            <a:off x="4572000" y="4114800"/>
            <a:ext cx="7315200" cy="2286000"/>
          </a:xfrm>
          <a:prstGeom prst="ellipse">
            <a:avLst/>
          </a:prstGeom>
          <a:solidFill>
            <a:srgbClr val="2A3080">
              <a:alpha val="50000"/>
            </a:srgbClr>
          </a:solidFill>
          <a:ln w="12700">
            <a:solidFill>
              <a:srgbClr val="333333"/>
            </a:solidFill>
            <a:prstDash val="solid"/>
          </a:ln>
        </p:spPr>
        <p:txBody>
          <a:bodyPr/>
          <a:lstStyle/>
          <a:p>
            <a:endParaRPr lang="en-GB"/>
          </a:p>
        </p:txBody>
      </p:sp>
      <p:sp>
        <p:nvSpPr>
          <p:cNvPr id="4" name="Text 2"/>
          <p:cNvSpPr/>
          <p:nvPr/>
        </p:nvSpPr>
        <p:spPr>
          <a:xfrm>
            <a:off x="731520" y="914400"/>
            <a:ext cx="5029200" cy="1097280"/>
          </a:xfrm>
          <a:prstGeom prst="rect">
            <a:avLst/>
          </a:prstGeom>
          <a:noFill/>
          <a:ln/>
        </p:spPr>
        <p:txBody>
          <a:bodyPr wrap="square" lIns="0" tIns="0" rIns="0" bIns="0" rtlCol="0" anchor="ctr"/>
          <a:lstStyle/>
          <a:p>
            <a:pPr marL="0" indent="0" algn="l">
              <a:buNone/>
            </a:pPr>
            <a:r>
              <a:rPr lang="en-US" sz="4000" b="1" kern="0" spc="600" dirty="0">
                <a:solidFill>
                  <a:srgbClr val="FFFFFF"/>
                </a:solidFill>
                <a:latin typeface="Trebuchet MS" pitchFamily="34" charset="0"/>
                <a:ea typeface="Trebuchet MS" pitchFamily="34" charset="-122"/>
                <a:cs typeface="Trebuchet MS" pitchFamily="34" charset="-120"/>
              </a:rPr>
              <a:t>GAMEPAD AND UI</a:t>
            </a:r>
            <a:endParaRPr lang="en-US" sz="4000" dirty="0"/>
          </a:p>
        </p:txBody>
      </p:sp>
      <p:sp>
        <p:nvSpPr>
          <p:cNvPr id="5" name="Text 3"/>
          <p:cNvSpPr/>
          <p:nvPr/>
        </p:nvSpPr>
        <p:spPr>
          <a:xfrm>
            <a:off x="731520" y="2011680"/>
            <a:ext cx="4572000" cy="457200"/>
          </a:xfrm>
          <a:prstGeom prst="rect">
            <a:avLst/>
          </a:prstGeom>
          <a:noFill/>
          <a:ln/>
        </p:spPr>
        <p:txBody>
          <a:bodyPr wrap="square" lIns="0" tIns="0" rIns="0" bIns="0" rtlCol="0" anchor="ctr"/>
          <a:lstStyle/>
          <a:p>
            <a:pPr marL="0" indent="0" algn="l">
              <a:buNone/>
            </a:pPr>
            <a:r>
              <a:rPr lang="en-US" sz="1400" dirty="0">
                <a:solidFill>
                  <a:srgbClr val="B0B0D0"/>
                </a:solidFill>
                <a:latin typeface="Calibri" pitchFamily="34" charset="0"/>
                <a:ea typeface="Calibri" pitchFamily="34" charset="-122"/>
                <a:cs typeface="Calibri" pitchFamily="34" charset="-120"/>
              </a:rPr>
              <a:t>Anna Rogers  |  Student ID: 2315276</a:t>
            </a:r>
            <a:endParaRPr lang="en-US" sz="1400" dirty="0"/>
          </a:p>
        </p:txBody>
      </p:sp>
      <p:sp>
        <p:nvSpPr>
          <p:cNvPr id="6" name="Text 4"/>
          <p:cNvSpPr/>
          <p:nvPr/>
        </p:nvSpPr>
        <p:spPr>
          <a:xfrm>
            <a:off x="731520" y="2468880"/>
            <a:ext cx="4572000" cy="365760"/>
          </a:xfrm>
          <a:prstGeom prst="rect">
            <a:avLst/>
          </a:prstGeom>
          <a:noFill/>
          <a:ln/>
        </p:spPr>
        <p:txBody>
          <a:bodyPr wrap="square" lIns="0" tIns="0" rIns="0" bIns="0" rtlCol="0" anchor="ctr"/>
          <a:lstStyle/>
          <a:p>
            <a:pPr marL="0" indent="0" algn="l">
              <a:buNone/>
            </a:pPr>
            <a:r>
              <a:rPr lang="en-US" sz="1300" dirty="0">
                <a:solidFill>
                  <a:srgbClr val="B0B0D0"/>
                </a:solidFill>
                <a:latin typeface="Calibri" pitchFamily="34" charset="0"/>
                <a:ea typeface="Calibri" pitchFamily="34" charset="-122"/>
                <a:cs typeface="Calibri" pitchFamily="34" charset="-120"/>
              </a:rPr>
              <a:t>Industry Brief  –  Greedy Piggies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52550"/>
        </a:solidFill>
        <a:effectLst/>
      </p:bgPr>
    </p:bg>
    <p:spTree>
      <p:nvGrpSpPr>
        <p:cNvPr id="1" name=""/>
        <p:cNvGrpSpPr/>
        <p:nvPr/>
      </p:nvGrpSpPr>
      <p:grpSpPr>
        <a:xfrm>
          <a:off x="0" y="0"/>
          <a:ext cx="0" cy="0"/>
          <a:chOff x="0" y="0"/>
          <a:chExt cx="0" cy="0"/>
        </a:xfrm>
      </p:grpSpPr>
      <p:sp>
        <p:nvSpPr>
          <p:cNvPr id="2" name="Text 0"/>
          <p:cNvSpPr/>
          <p:nvPr/>
        </p:nvSpPr>
        <p:spPr>
          <a:xfrm>
            <a:off x="548640" y="274320"/>
            <a:ext cx="5029200" cy="914400"/>
          </a:xfrm>
          <a:prstGeom prst="rect">
            <a:avLst/>
          </a:prstGeom>
          <a:noFill/>
          <a:ln/>
        </p:spPr>
        <p:txBody>
          <a:bodyPr wrap="square" lIns="0" tIns="0" rIns="0" bIns="0" rtlCol="0" anchor="ctr"/>
          <a:lstStyle/>
          <a:p>
            <a:pPr marL="0" indent="0" algn="l">
              <a:buNone/>
            </a:pPr>
            <a:r>
              <a:rPr lang="en-US" sz="2800" b="1" kern="0" spc="400" dirty="0">
                <a:solidFill>
                  <a:srgbClr val="FFFFFF"/>
                </a:solidFill>
                <a:latin typeface="Trebuchet MS" pitchFamily="34" charset="0"/>
                <a:ea typeface="Trebuchet MS" pitchFamily="34" charset="-122"/>
                <a:cs typeface="Trebuchet MS" pitchFamily="34" charset="-120"/>
              </a:rPr>
              <a:t>SEAMLESS INPUT &amp;</a:t>
            </a:r>
            <a:endParaRPr lang="en-US" sz="2800" dirty="0"/>
          </a:p>
          <a:p>
            <a:pPr marL="0" indent="0" algn="l">
              <a:buNone/>
            </a:pPr>
            <a:r>
              <a:rPr lang="en-US" sz="2800" b="1" kern="0" spc="400" dirty="0">
                <a:solidFill>
                  <a:srgbClr val="FFFFFF"/>
                </a:solidFill>
                <a:latin typeface="Trebuchet MS" pitchFamily="34" charset="0"/>
                <a:ea typeface="Trebuchet MS" pitchFamily="34" charset="-122"/>
                <a:cs typeface="Trebuchet MS" pitchFamily="34" charset="-120"/>
              </a:rPr>
              <a:t>UI TRANSITIONS</a:t>
            </a:r>
            <a:endParaRPr lang="en-US" sz="2800" dirty="0"/>
          </a:p>
        </p:txBody>
      </p:sp>
      <p:sp>
        <p:nvSpPr>
          <p:cNvPr id="3" name="Text 1"/>
          <p:cNvSpPr/>
          <p:nvPr/>
        </p:nvSpPr>
        <p:spPr>
          <a:xfrm>
            <a:off x="548640" y="1371600"/>
            <a:ext cx="4754880" cy="2743200"/>
          </a:xfrm>
          <a:prstGeom prst="rect">
            <a:avLst/>
          </a:prstGeom>
          <a:noFill/>
          <a:ln/>
        </p:spPr>
        <p:txBody>
          <a:bodyPr wrap="square" rtlCol="0" anchor="t"/>
          <a:lstStyle/>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My tool ensures switching between gameplay and menus feels smooth, handling mouse and controller input so buttons always work</a:t>
            </a:r>
            <a:endParaRPr lang="en-US" sz="1300" dirty="0"/>
          </a:p>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Focused on controller compatibility, focus/navigation, and a widget switcher for the in-game pause menu</a:t>
            </a:r>
            <a:endParaRPr lang="en-US" sz="1300" dirty="0"/>
          </a:p>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The result: a cleaner, more reliable menu system that's easier for players to use</a:t>
            </a:r>
            <a:endParaRPr lang="en-US" sz="1300" dirty="0"/>
          </a:p>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Improved understanding of Unreal Engine UI systems, especially for controller input</a:t>
            </a:r>
            <a:endParaRPr lang="en-US" sz="1300" dirty="0"/>
          </a:p>
        </p:txBody>
      </p:sp>
      <p:sp>
        <p:nvSpPr>
          <p:cNvPr id="5" name="Text 2"/>
          <p:cNvSpPr/>
          <p:nvPr/>
        </p:nvSpPr>
        <p:spPr>
          <a:xfrm>
            <a:off x="548640" y="4389120"/>
            <a:ext cx="7315200" cy="365760"/>
          </a:xfrm>
          <a:prstGeom prst="rect">
            <a:avLst/>
          </a:prstGeom>
          <a:noFill/>
          <a:ln/>
        </p:spPr>
        <p:txBody>
          <a:bodyPr wrap="square" lIns="0" tIns="0" rIns="0" bIns="0" rtlCol="0" anchor="ctr"/>
          <a:lstStyle/>
          <a:p>
            <a:pPr marL="0" indent="0">
              <a:buNone/>
            </a:pPr>
            <a:r>
              <a:rPr lang="en-US" sz="1000" i="1" dirty="0">
                <a:solidFill>
                  <a:srgbClr val="8888BB"/>
                </a:solidFill>
                <a:latin typeface="Calibri" pitchFamily="34" charset="0"/>
                <a:ea typeface="Calibri" pitchFamily="34" charset="-122"/>
                <a:cs typeface="Calibri" pitchFamily="34" charset="-120"/>
              </a:rPr>
              <a:t>API Reference: annarogers04.github.io/WidgetSwitcher-API/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1472712" y="3906422"/>
            <a:ext cx="6400800" cy="2286000"/>
          </a:xfrm>
          <a:prstGeom prst="ellipse">
            <a:avLst/>
          </a:prstGeom>
          <a:solidFill>
            <a:srgbClr val="3A2070">
              <a:alpha val="60000"/>
            </a:srgbClr>
          </a:solidFill>
          <a:ln w="12700">
            <a:solidFill>
              <a:srgbClr val="333333"/>
            </a:solidFill>
            <a:prstDash val="solid"/>
          </a:ln>
        </p:spPr>
        <p:txBody>
          <a:bodyPr/>
          <a:lstStyle/>
          <a:p>
            <a:endParaRPr lang="en-GB"/>
          </a:p>
        </p:txBody>
      </p:sp>
      <p:sp>
        <p:nvSpPr>
          <p:cNvPr id="3" name="Shape 1"/>
          <p:cNvSpPr/>
          <p:nvPr/>
        </p:nvSpPr>
        <p:spPr>
          <a:xfrm>
            <a:off x="4572000" y="4114800"/>
            <a:ext cx="7315200" cy="2286000"/>
          </a:xfrm>
          <a:prstGeom prst="ellipse">
            <a:avLst/>
          </a:prstGeom>
          <a:solidFill>
            <a:srgbClr val="2A3080">
              <a:alpha val="50000"/>
            </a:srgbClr>
          </a:solidFill>
          <a:ln w="12700">
            <a:solidFill>
              <a:srgbClr val="333333"/>
            </a:solidFill>
            <a:prstDash val="solid"/>
          </a:ln>
        </p:spPr>
        <p:txBody>
          <a:bodyPr/>
          <a:lstStyle/>
          <a:p>
            <a:endParaRPr lang="en-GB"/>
          </a:p>
        </p:txBody>
      </p:sp>
      <p:sp>
        <p:nvSpPr>
          <p:cNvPr id="4" name="Text 2"/>
          <p:cNvSpPr/>
          <p:nvPr/>
        </p:nvSpPr>
        <p:spPr>
          <a:xfrm>
            <a:off x="548640" y="274320"/>
            <a:ext cx="8229600" cy="640080"/>
          </a:xfrm>
          <a:prstGeom prst="rect">
            <a:avLst/>
          </a:prstGeom>
          <a:noFill/>
          <a:ln/>
        </p:spPr>
        <p:txBody>
          <a:bodyPr wrap="square" lIns="0" tIns="0" rIns="0" bIns="0" rtlCol="0" anchor="ctr"/>
          <a:lstStyle/>
          <a:p>
            <a:pPr marL="0" indent="0" algn="l">
              <a:buNone/>
            </a:pPr>
            <a:r>
              <a:rPr lang="en-US" sz="3000" b="1" kern="0" spc="500" dirty="0">
                <a:solidFill>
                  <a:srgbClr val="FFFFFF"/>
                </a:solidFill>
                <a:latin typeface="Trebuchet MS" pitchFamily="34" charset="0"/>
                <a:ea typeface="Trebuchet MS" pitchFamily="34" charset="-122"/>
                <a:cs typeface="Trebuchet MS" pitchFamily="34" charset="-120"/>
              </a:rPr>
              <a:t>RESEARCH</a:t>
            </a:r>
            <a:endParaRPr lang="en-US" sz="3000" dirty="0"/>
          </a:p>
        </p:txBody>
      </p:sp>
      <p:sp>
        <p:nvSpPr>
          <p:cNvPr id="5" name="Text 3"/>
          <p:cNvSpPr/>
          <p:nvPr/>
        </p:nvSpPr>
        <p:spPr>
          <a:xfrm>
            <a:off x="548640" y="1005840"/>
            <a:ext cx="5029200" cy="3200400"/>
          </a:xfrm>
          <a:prstGeom prst="rect">
            <a:avLst/>
          </a:prstGeom>
          <a:noFill/>
          <a:ln/>
        </p:spPr>
        <p:txBody>
          <a:bodyPr wrap="square" rtlCol="0" anchor="t"/>
          <a:lstStyle/>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Research focused on controller support, menu navigation, and Unreal's input system</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Kept research close to the actual work controller compatibility, focus, and widget switcher</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Practical research was </a:t>
            </a:r>
            <a:r>
              <a:rPr lang="en-US" sz="1300" dirty="0" err="1">
                <a:solidFill>
                  <a:srgbClr val="B0B0D0"/>
                </a:solidFill>
                <a:latin typeface="Calibri" pitchFamily="34" charset="0"/>
                <a:ea typeface="Calibri" pitchFamily="34" charset="-122"/>
                <a:cs typeface="Calibri" pitchFamily="34" charset="-120"/>
              </a:rPr>
              <a:t>prioritised</a:t>
            </a:r>
            <a:r>
              <a:rPr lang="en-US" sz="1300" dirty="0">
                <a:solidFill>
                  <a:srgbClr val="B0B0D0"/>
                </a:solidFill>
                <a:latin typeface="Calibri" pitchFamily="34" charset="0"/>
                <a:ea typeface="Calibri" pitchFamily="34" charset="-122"/>
                <a:cs typeface="Calibri" pitchFamily="34" charset="-120"/>
              </a:rPr>
              <a:t>, which helped more with the actual systems being built</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Some tutorials caused issues due to Unreal version differences (especially the remap system)</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Research always connected back to player experience menu nav and focus are immediately noticeable if they don't work</a:t>
            </a:r>
            <a:endParaRPr lang="en-US" sz="1300" dirty="0"/>
          </a:p>
        </p:txBody>
      </p:sp>
      <p:pic>
        <p:nvPicPr>
          <p:cNvPr id="10" name="Picture 9">
            <a:extLst>
              <a:ext uri="{FF2B5EF4-FFF2-40B4-BE49-F238E27FC236}">
                <a16:creationId xmlns:a16="http://schemas.microsoft.com/office/drawing/2014/main" id="{317D4D1D-8AA3-E585-29DB-CF10F57F6792}"/>
              </a:ext>
            </a:extLst>
          </p:cNvPr>
          <p:cNvPicPr>
            <a:picLocks noChangeAspect="1"/>
          </p:cNvPicPr>
          <p:nvPr/>
        </p:nvPicPr>
        <p:blipFill>
          <a:blip r:embed="rId3"/>
          <a:stretch>
            <a:fillRect/>
          </a:stretch>
        </p:blipFill>
        <p:spPr>
          <a:xfrm>
            <a:off x="5772474" y="1005840"/>
            <a:ext cx="3138530" cy="2366974"/>
          </a:xfrm>
          <a:prstGeom prst="rect">
            <a:avLst/>
          </a:prstGeom>
        </p:spPr>
      </p:pic>
      <p:sp>
        <p:nvSpPr>
          <p:cNvPr id="11" name="Text 2">
            <a:extLst>
              <a:ext uri="{FF2B5EF4-FFF2-40B4-BE49-F238E27FC236}">
                <a16:creationId xmlns:a16="http://schemas.microsoft.com/office/drawing/2014/main" id="{0C3351FE-57FF-C80F-58C6-2EB5D1D1FDB8}"/>
              </a:ext>
            </a:extLst>
          </p:cNvPr>
          <p:cNvSpPr/>
          <p:nvPr/>
        </p:nvSpPr>
        <p:spPr>
          <a:xfrm>
            <a:off x="5772474" y="3281374"/>
            <a:ext cx="3441147" cy="365760"/>
          </a:xfrm>
          <a:prstGeom prst="rect">
            <a:avLst/>
          </a:prstGeom>
          <a:noFill/>
          <a:ln/>
        </p:spPr>
        <p:txBody>
          <a:bodyPr wrap="square" lIns="0" tIns="0" rIns="0" bIns="0" rtlCol="0" anchor="ctr"/>
          <a:lstStyle/>
          <a:p>
            <a:r>
              <a:rPr lang="en-US" sz="600" i="1" dirty="0">
                <a:solidFill>
                  <a:srgbClr val="8888BB"/>
                </a:solidFill>
                <a:latin typeface="Calibri" pitchFamily="34" charset="0"/>
                <a:ea typeface="Calibri" pitchFamily="34" charset="-122"/>
                <a:cs typeface="Calibri" pitchFamily="34" charset="-120"/>
              </a:rPr>
              <a:t>Source: https://giphy.com/gifs/season-16-the-simpsons-16x3-3orieUe6ejxSFxYCXe </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52550"/>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0" cap="none" spc="40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WHAT I LOOKED AT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914400"/>
            <a:ext cx="8046720" cy="38404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Final Spin (Game Reference)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A multiplayer party game on Steam, I used it as a general comparison point for the kind of game Greedy Piggies sits alongside. Helped me think about player expectations and the overall feel, but it was more for context and inspiration than anything technical.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Enhanced Input Documentation (Epic Games)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The most useful and reliable technical source. Since Epic made Unreal, this was the best place to understand how the input system was meant to work. I looked at Input Actions and Input Mapping Contexts, and used them to compare what should be happening vs what was actually happening in my project.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Remap Tutorial (YouTube)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Followed this while trying to build a controls remap system. It helped me understand the general structure, but it was made for an older Unreal version. The version differences caused real problems. I ended up removing the feature because I couldn't get it working in UE 5.6.1 in time.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52550"/>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0" cap="none" spc="40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WHAT I LOOKED AT (CONT.)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914400"/>
            <a:ext cx="8046720" cy="38404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Celia Hodent (Academic Source)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Her work on UX in video games gave me a better way to talk about usability and player interaction. It linked well to my work because improving controller focus and menu navigation is all about making the interface easier for the player. More theoretical than the other sources, but it helped explain why this work matters.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Unreal Forum Post (Community Source)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This was about opening and closing a menu with the same button closely related to my pause menu flow and controller focus issues. Practical and close to the problem I was dealing with, though I treated it as extra support rather than a main source since forum advice isn't always as reliable as docs.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reWASD Controller Guide (Background Source)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Used this to think more generally about controller setup and PC usability. Not directly about building systems in Unreal, so it was more useful for the broader context than implementation, but still helped round out my understanding of controller UX from the player's side.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1828800" y="3840480"/>
            <a:ext cx="6400800" cy="2286000"/>
          </a:xfrm>
          <a:prstGeom prst="ellipse">
            <a:avLst/>
          </a:prstGeom>
          <a:solidFill>
            <a:srgbClr val="3A2070">
              <a:alpha val="60000"/>
            </a:srgbClr>
          </a:solidFill>
          <a:ln w="12700">
            <a:solidFill>
              <a:srgbClr val="333333"/>
            </a:solidFill>
            <a:prstDash val="solid"/>
          </a:ln>
        </p:spPr>
        <p:txBody>
          <a:bodyPr/>
          <a:lstStyle/>
          <a:p>
            <a:endParaRPr lang="en-GB"/>
          </a:p>
        </p:txBody>
      </p:sp>
      <p:sp>
        <p:nvSpPr>
          <p:cNvPr id="3" name="Shape 1"/>
          <p:cNvSpPr/>
          <p:nvPr/>
        </p:nvSpPr>
        <p:spPr>
          <a:xfrm>
            <a:off x="4572000" y="4114800"/>
            <a:ext cx="7315200" cy="2286000"/>
          </a:xfrm>
          <a:prstGeom prst="ellipse">
            <a:avLst/>
          </a:prstGeom>
          <a:solidFill>
            <a:srgbClr val="2A3080">
              <a:alpha val="50000"/>
            </a:srgbClr>
          </a:solidFill>
          <a:ln w="12700">
            <a:solidFill>
              <a:srgbClr val="333333"/>
            </a:solidFill>
            <a:prstDash val="solid"/>
          </a:ln>
        </p:spPr>
        <p:txBody>
          <a:bodyPr/>
          <a:lstStyle/>
          <a:p>
            <a:endParaRPr lang="en-GB"/>
          </a:p>
        </p:txBody>
      </p:sp>
      <p:sp>
        <p:nvSpPr>
          <p:cNvPr id="4" name="Text 2"/>
          <p:cNvSpPr/>
          <p:nvPr/>
        </p:nvSpPr>
        <p:spPr>
          <a:xfrm>
            <a:off x="548640" y="274320"/>
            <a:ext cx="8229600" cy="640080"/>
          </a:xfrm>
          <a:prstGeom prst="rect">
            <a:avLst/>
          </a:prstGeom>
          <a:noFill/>
          <a:ln/>
        </p:spPr>
        <p:txBody>
          <a:bodyPr wrap="square" lIns="0" tIns="0" rIns="0" bIns="0" rtlCol="0" anchor="ctr"/>
          <a:lstStyle/>
          <a:p>
            <a:pPr marL="0" indent="0" algn="l">
              <a:buNone/>
            </a:pPr>
            <a:r>
              <a:rPr lang="en-US" sz="3000" b="1" kern="0" spc="500" dirty="0">
                <a:solidFill>
                  <a:srgbClr val="FFFFFF"/>
                </a:solidFill>
                <a:latin typeface="Trebuchet MS" pitchFamily="34" charset="0"/>
                <a:ea typeface="Trebuchet MS" pitchFamily="34" charset="-122"/>
                <a:cs typeface="Trebuchet MS" pitchFamily="34" charset="-120"/>
              </a:rPr>
              <a:t>IMPLEMENTATION</a:t>
            </a:r>
            <a:endParaRPr lang="en-US" sz="3000" dirty="0"/>
          </a:p>
        </p:txBody>
      </p:sp>
      <p:sp>
        <p:nvSpPr>
          <p:cNvPr id="5" name="Text 3"/>
          <p:cNvSpPr/>
          <p:nvPr/>
        </p:nvSpPr>
        <p:spPr>
          <a:xfrm>
            <a:off x="548640" y="1005840"/>
            <a:ext cx="5029200" cy="2926080"/>
          </a:xfrm>
          <a:prstGeom prst="rect">
            <a:avLst/>
          </a:prstGeom>
          <a:noFill/>
          <a:ln/>
        </p:spPr>
        <p:txBody>
          <a:bodyPr wrap="square" rtlCol="0" anchor="t"/>
          <a:lstStyle/>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Focused on the menu and UI side controller compatibility, focus/navigation, and widget switcher</a:t>
            </a:r>
            <a:endParaRPr lang="en-US" sz="1300" dirty="0"/>
          </a:p>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Goal shifted from "get menus working with controller" to "make the system feel smooth and organised"</a:t>
            </a:r>
            <a:endParaRPr lang="en-US" sz="1300" dirty="0"/>
          </a:p>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Most decisions came from testing in-engine and noticing what felt awkward or inconsistent</a:t>
            </a:r>
            <a:endParaRPr lang="en-US" sz="1300" dirty="0"/>
          </a:p>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Technical approach building with Unreal widgets and blueprint logic, constant iteration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52550"/>
        </a:solidFill>
        <a:effectLst/>
      </p:bgPr>
    </p:bg>
    <p:spTree>
      <p:nvGrpSpPr>
        <p:cNvPr id="1" name=""/>
        <p:cNvGrpSpPr/>
        <p:nvPr/>
      </p:nvGrpSpPr>
      <p:grpSpPr>
        <a:xfrm>
          <a:off x="0" y="0"/>
          <a:ext cx="0" cy="0"/>
          <a:chOff x="0" y="0"/>
          <a:chExt cx="0" cy="0"/>
        </a:xfrm>
      </p:grpSpPr>
      <p:sp>
        <p:nvSpPr>
          <p:cNvPr id="2" name="Text 0"/>
          <p:cNvSpPr/>
          <p:nvPr/>
        </p:nvSpPr>
        <p:spPr>
          <a:xfrm>
            <a:off x="548640" y="274320"/>
            <a:ext cx="4572000" cy="548640"/>
          </a:xfrm>
          <a:prstGeom prst="rect">
            <a:avLst/>
          </a:prstGeom>
          <a:noFill/>
          <a:ln/>
        </p:spPr>
        <p:txBody>
          <a:bodyPr wrap="square" lIns="0" tIns="0" rIns="0" bIns="0" rtlCol="0" anchor="ctr"/>
          <a:lstStyle/>
          <a:p>
            <a:pPr marL="0" indent="0" algn="l">
              <a:buNone/>
            </a:pPr>
            <a:r>
              <a:rPr lang="en-US" sz="2600" b="1" kern="0" spc="400" dirty="0">
                <a:solidFill>
                  <a:srgbClr val="FFFFFF"/>
                </a:solidFill>
                <a:latin typeface="Trebuchet MS" pitchFamily="34" charset="0"/>
                <a:ea typeface="Trebuchet MS" pitchFamily="34" charset="-122"/>
                <a:cs typeface="Trebuchet MS" pitchFamily="34" charset="-120"/>
              </a:rPr>
              <a:t>CONTROLLER FOCUS</a:t>
            </a:r>
            <a:endParaRPr lang="en-US" sz="2600" dirty="0"/>
          </a:p>
        </p:txBody>
      </p:sp>
      <p:sp>
        <p:nvSpPr>
          <p:cNvPr id="3" name="Text 1"/>
          <p:cNvSpPr/>
          <p:nvPr/>
        </p:nvSpPr>
        <p:spPr>
          <a:xfrm>
            <a:off x="548640" y="914400"/>
            <a:ext cx="4754880" cy="2743200"/>
          </a:xfrm>
          <a:prstGeom prst="rect">
            <a:avLst/>
          </a:prstGeom>
          <a:noFill/>
          <a:ln/>
        </p:spPr>
        <p:txBody>
          <a:bodyPr wrap="square" rtlCol="0" anchor="t"/>
          <a:lstStyle/>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UI can look correct but feel awkward if focus isn't clear</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Had to decide which button should be selected first</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Managed how focus moves between options</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Tracked and restored last focused button when menus change</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Prevents broken or inconsistent controller navigation</a:t>
            </a:r>
            <a:endParaRPr lang="en-US" sz="1300" dirty="0"/>
          </a:p>
        </p:txBody>
      </p:sp>
      <p:sp>
        <p:nvSpPr>
          <p:cNvPr id="4" name="Shape 2"/>
          <p:cNvSpPr/>
          <p:nvPr/>
        </p:nvSpPr>
        <p:spPr>
          <a:xfrm>
            <a:off x="576072" y="3474720"/>
            <a:ext cx="4754880" cy="1097280"/>
          </a:xfrm>
          <a:prstGeom prst="rect">
            <a:avLst/>
          </a:prstGeom>
          <a:solidFill>
            <a:srgbClr val="2A2A55"/>
          </a:solidFill>
          <a:ln/>
          <a:effectLst>
            <a:outerShdw blurRad="76200" dist="25400" dir="8100000" algn="bl" rotWithShape="0">
              <a:srgbClr val="000000">
                <a:alpha val="20000"/>
              </a:srgbClr>
            </a:outerShdw>
          </a:effectLst>
        </p:spPr>
        <p:txBody>
          <a:bodyPr/>
          <a:lstStyle/>
          <a:p>
            <a:endParaRPr lang="en-GB"/>
          </a:p>
        </p:txBody>
      </p:sp>
      <p:sp>
        <p:nvSpPr>
          <p:cNvPr id="5" name="Shape 3"/>
          <p:cNvSpPr/>
          <p:nvPr/>
        </p:nvSpPr>
        <p:spPr>
          <a:xfrm>
            <a:off x="548640" y="3474720"/>
            <a:ext cx="54864" cy="1097280"/>
          </a:xfrm>
          <a:prstGeom prst="rect">
            <a:avLst/>
          </a:prstGeom>
          <a:solidFill>
            <a:srgbClr val="4A6CF7"/>
          </a:solidFill>
          <a:ln/>
        </p:spPr>
        <p:txBody>
          <a:bodyPr/>
          <a:lstStyle/>
          <a:p>
            <a:endParaRPr lang="en-GB"/>
          </a:p>
        </p:txBody>
      </p:sp>
      <p:sp>
        <p:nvSpPr>
          <p:cNvPr id="6" name="Text 4"/>
          <p:cNvSpPr/>
          <p:nvPr/>
        </p:nvSpPr>
        <p:spPr>
          <a:xfrm>
            <a:off x="777240" y="3520440"/>
            <a:ext cx="4389120" cy="1005840"/>
          </a:xfrm>
          <a:prstGeom prst="rect">
            <a:avLst/>
          </a:prstGeom>
          <a:noFill/>
          <a:ln/>
        </p:spPr>
        <p:txBody>
          <a:bodyPr wrap="square" rtlCol="0" anchor="ctr"/>
          <a:lstStyle/>
          <a:p>
            <a:pPr marL="0" indent="0">
              <a:buNone/>
            </a:pPr>
            <a:r>
              <a:rPr lang="en-US" sz="1100" dirty="0">
                <a:solidFill>
                  <a:srgbClr val="B0B0D0"/>
                </a:solidFill>
                <a:latin typeface="Calibri" pitchFamily="34" charset="0"/>
                <a:ea typeface="Calibri" pitchFamily="34" charset="-122"/>
                <a:cs typeface="Calibri" pitchFamily="34" charset="-120"/>
              </a:rPr>
              <a:t>Input modes managed centrally inside a custom Player Controller, preventing gameplay and UI input conflicts when menus are opened.</a:t>
            </a:r>
            <a:endParaRPr lang="en-US" sz="1100" dirty="0"/>
          </a:p>
        </p:txBody>
      </p:sp>
      <p:pic>
        <p:nvPicPr>
          <p:cNvPr id="11" name="Picture 10">
            <a:extLst>
              <a:ext uri="{FF2B5EF4-FFF2-40B4-BE49-F238E27FC236}">
                <a16:creationId xmlns:a16="http://schemas.microsoft.com/office/drawing/2014/main" id="{DD997C1F-D94E-410C-3701-236B59FB0984}"/>
              </a:ext>
            </a:extLst>
          </p:cNvPr>
          <p:cNvPicPr>
            <a:picLocks noChangeAspect="1"/>
          </p:cNvPicPr>
          <p:nvPr/>
        </p:nvPicPr>
        <p:blipFill>
          <a:blip r:embed="rId3"/>
          <a:srcRect l="23859" r="7324"/>
          <a:stretch>
            <a:fillRect/>
          </a:stretch>
        </p:blipFill>
        <p:spPr>
          <a:xfrm>
            <a:off x="5469228" y="548640"/>
            <a:ext cx="3277416" cy="2676525"/>
          </a:xfrm>
          <a:prstGeom prst="rect">
            <a:avLst/>
          </a:prstGeom>
        </p:spPr>
      </p:pic>
      <p:sp>
        <p:nvSpPr>
          <p:cNvPr id="14" name="Text 2">
            <a:extLst>
              <a:ext uri="{FF2B5EF4-FFF2-40B4-BE49-F238E27FC236}">
                <a16:creationId xmlns:a16="http://schemas.microsoft.com/office/drawing/2014/main" id="{101EFFD4-D8EE-B21A-3CDC-52C4941D2B04}"/>
              </a:ext>
            </a:extLst>
          </p:cNvPr>
          <p:cNvSpPr/>
          <p:nvPr/>
        </p:nvSpPr>
        <p:spPr>
          <a:xfrm>
            <a:off x="5469228" y="3147648"/>
            <a:ext cx="3441147" cy="365760"/>
          </a:xfrm>
          <a:prstGeom prst="rect">
            <a:avLst/>
          </a:prstGeom>
          <a:noFill/>
          <a:ln/>
        </p:spPr>
        <p:txBody>
          <a:bodyPr wrap="square" lIns="0" tIns="0" rIns="0" bIns="0" rtlCol="0" anchor="ctr"/>
          <a:lstStyle/>
          <a:p>
            <a:r>
              <a:rPr lang="en-US" sz="600" i="1" dirty="0">
                <a:solidFill>
                  <a:srgbClr val="8888BB"/>
                </a:solidFill>
                <a:latin typeface="Calibri" pitchFamily="34" charset="0"/>
                <a:ea typeface="Calibri" pitchFamily="34" charset="-122"/>
                <a:cs typeface="Calibri" pitchFamily="34" charset="-120"/>
              </a:rPr>
              <a:t>Source: https://giphy.com/gifs/video-games-game-UmQrx37p5LVxC</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1828800" y="3840480"/>
            <a:ext cx="6400800" cy="2286000"/>
          </a:xfrm>
          <a:prstGeom prst="ellipse">
            <a:avLst/>
          </a:prstGeom>
          <a:solidFill>
            <a:srgbClr val="3A2070">
              <a:alpha val="60000"/>
            </a:srgbClr>
          </a:solidFill>
          <a:ln w="12700">
            <a:solidFill>
              <a:srgbClr val="333333"/>
            </a:solidFill>
            <a:prstDash val="solid"/>
          </a:ln>
        </p:spPr>
        <p:txBody>
          <a:bodyPr/>
          <a:lstStyle/>
          <a:p>
            <a:endParaRPr lang="en-GB"/>
          </a:p>
        </p:txBody>
      </p:sp>
      <p:sp>
        <p:nvSpPr>
          <p:cNvPr id="3" name="Shape 1"/>
          <p:cNvSpPr/>
          <p:nvPr/>
        </p:nvSpPr>
        <p:spPr>
          <a:xfrm>
            <a:off x="4572000" y="4114800"/>
            <a:ext cx="7315200" cy="2286000"/>
          </a:xfrm>
          <a:prstGeom prst="ellipse">
            <a:avLst/>
          </a:prstGeom>
          <a:solidFill>
            <a:srgbClr val="2A3080">
              <a:alpha val="50000"/>
            </a:srgbClr>
          </a:solidFill>
          <a:ln w="12700">
            <a:solidFill>
              <a:srgbClr val="333333"/>
            </a:solidFill>
            <a:prstDash val="solid"/>
          </a:ln>
        </p:spPr>
        <p:txBody>
          <a:bodyPr/>
          <a:lstStyle/>
          <a:p>
            <a:endParaRPr lang="en-GB"/>
          </a:p>
        </p:txBody>
      </p:sp>
      <p:sp>
        <p:nvSpPr>
          <p:cNvPr id="4" name="Text 2"/>
          <p:cNvSpPr/>
          <p:nvPr/>
        </p:nvSpPr>
        <p:spPr>
          <a:xfrm>
            <a:off x="548640" y="274320"/>
            <a:ext cx="4572000" cy="548640"/>
          </a:xfrm>
          <a:prstGeom prst="rect">
            <a:avLst/>
          </a:prstGeom>
          <a:noFill/>
          <a:ln/>
        </p:spPr>
        <p:txBody>
          <a:bodyPr wrap="square" lIns="0" tIns="0" rIns="0" bIns="0" rtlCol="0" anchor="ctr"/>
          <a:lstStyle/>
          <a:p>
            <a:pPr marL="0" indent="0" algn="l">
              <a:buNone/>
            </a:pPr>
            <a:r>
              <a:rPr lang="en-US" sz="2600" b="1" kern="0" spc="400" dirty="0">
                <a:solidFill>
                  <a:srgbClr val="FFFFFF"/>
                </a:solidFill>
                <a:latin typeface="Trebuchet MS" pitchFamily="34" charset="0"/>
                <a:ea typeface="Trebuchet MS" pitchFamily="34" charset="-122"/>
                <a:cs typeface="Trebuchet MS" pitchFamily="34" charset="-120"/>
              </a:rPr>
              <a:t>WIDGET SWITCHER</a:t>
            </a:r>
            <a:endParaRPr lang="en-US" sz="2600" dirty="0"/>
          </a:p>
        </p:txBody>
      </p:sp>
      <p:sp>
        <p:nvSpPr>
          <p:cNvPr id="5" name="Text 3"/>
          <p:cNvSpPr/>
          <p:nvPr/>
        </p:nvSpPr>
        <p:spPr>
          <a:xfrm>
            <a:off x="548640" y="914400"/>
            <a:ext cx="4754880" cy="2743200"/>
          </a:xfrm>
          <a:prstGeom prst="rect">
            <a:avLst/>
          </a:prstGeom>
          <a:noFill/>
          <a:ln/>
        </p:spPr>
        <p:txBody>
          <a:bodyPr wrap="square" rtlCol="0" anchor="t"/>
          <a:lstStyle/>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Built for the in-game pause menu to keep widgets in the same place</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Keeps layout consistent while changing content inside it</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Widgets created once, visibility managed through a central state system</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Prevents duplication, reduces unnecessary processing</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Made the pause menu easier to manage and the UI feel cleaner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52550"/>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0" cap="none" spc="40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HOW IT WORKS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914400"/>
            <a:ext cx="5029200" cy="365760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Everything is controlled by one central system, which decides which menu is showing and handles all the input switching automatically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When you open a menu, the system switches from gameplay input to UI input, so controls don't conflict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It supports both mouse and controller. If you switch between them, the UI adapts, and focus is restored to the right button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Menus aren't recreated every time they're built once and their visibility is toggled, which avoids duplication and keeps things stable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The controls screen updates automatically based on which input device is active, so the player always sees the right bindings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1828800" y="3840480"/>
            <a:ext cx="6400800" cy="2286000"/>
          </a:xfrm>
          <a:prstGeom prst="ellipse">
            <a:avLst/>
          </a:prstGeom>
          <a:solidFill>
            <a:srgbClr val="3A2070">
              <a:alpha val="60000"/>
            </a:srgbClr>
          </a:solidFill>
          <a:ln w="12700">
            <a:solidFill>
              <a:srgbClr val="333333"/>
            </a:solidFill>
            <a:prstDash val="solid"/>
          </a:ln>
        </p:spPr>
        <p:txBody>
          <a:bodyPr/>
          <a:lstStyle/>
          <a:p>
            <a:endParaRPr lang="en-GB"/>
          </a:p>
        </p:txBody>
      </p:sp>
      <p:sp>
        <p:nvSpPr>
          <p:cNvPr id="3" name="Shape 1"/>
          <p:cNvSpPr/>
          <p:nvPr/>
        </p:nvSpPr>
        <p:spPr>
          <a:xfrm>
            <a:off x="4572000" y="4114800"/>
            <a:ext cx="7315200" cy="2286000"/>
          </a:xfrm>
          <a:prstGeom prst="ellipse">
            <a:avLst/>
          </a:prstGeom>
          <a:solidFill>
            <a:srgbClr val="2A3080">
              <a:alpha val="50000"/>
            </a:srgbClr>
          </a:solidFill>
          <a:ln w="12700">
            <a:solidFill>
              <a:srgbClr val="333333"/>
            </a:solidFill>
            <a:prstDash val="solid"/>
          </a:ln>
        </p:spPr>
        <p:txBody>
          <a:bodyPr/>
          <a:lstStyle/>
          <a:p>
            <a:endParaRPr lang="en-GB"/>
          </a:p>
        </p:txBody>
      </p:sp>
      <p:sp>
        <p:nvSpPr>
          <p:cNvPr id="4" name="Text 2"/>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600" b="1" kern="0" spc="400" dirty="0">
                <a:solidFill>
                  <a:srgbClr val="FFFFFF"/>
                </a:solidFill>
                <a:latin typeface="Trebuchet MS" pitchFamily="34" charset="0"/>
                <a:ea typeface="Trebuchet MS" pitchFamily="34" charset="-122"/>
                <a:cs typeface="Trebuchet MS" pitchFamily="34" charset="-120"/>
              </a:rPr>
              <a:t>TECHNICAL APPROACH</a:t>
            </a:r>
            <a:endParaRPr lang="en-US" sz="2600" dirty="0"/>
          </a:p>
        </p:txBody>
      </p:sp>
      <p:sp>
        <p:nvSpPr>
          <p:cNvPr id="5" name="Text 3"/>
          <p:cNvSpPr/>
          <p:nvPr/>
        </p:nvSpPr>
        <p:spPr>
          <a:xfrm>
            <a:off x="548640" y="914400"/>
            <a:ext cx="5029200" cy="2286000"/>
          </a:xfrm>
          <a:prstGeom prst="rect">
            <a:avLst/>
          </a:prstGeom>
          <a:noFill/>
          <a:ln/>
        </p:spPr>
        <p:txBody>
          <a:bodyPr wrap="square" rtlCol="0" anchor="t"/>
          <a:lstStyle/>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Technical rather than creative, making the UI function properly, not designing visual assets</a:t>
            </a:r>
            <a:endParaRPr lang="en-US" sz="1300" dirty="0"/>
          </a:p>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Built using Unreal Engine widgets and blueprint logic</a:t>
            </a:r>
            <a:endParaRPr lang="en-US" sz="1300" dirty="0"/>
          </a:p>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Process: test small changes → see how menu behaves → adjust based on what felt wrong</a:t>
            </a:r>
            <a:endParaRPr lang="en-US" sz="1300" dirty="0"/>
          </a:p>
          <a:p>
            <a:pPr marL="342900" indent="-342900">
              <a:spcAft>
                <a:spcPts val="800"/>
              </a:spcAft>
              <a:buSzPct val="100000"/>
              <a:buChar char="•"/>
            </a:pPr>
            <a:r>
              <a:rPr lang="en-US" sz="1300" dirty="0">
                <a:solidFill>
                  <a:srgbClr val="B0B0D0"/>
                </a:solidFill>
                <a:latin typeface="Calibri" pitchFamily="34" charset="0"/>
                <a:ea typeface="Calibri" pitchFamily="34" charset="-122"/>
                <a:cs typeface="Calibri" pitchFamily="34" charset="-120"/>
              </a:rPr>
              <a:t>Had to stop thinking about UI as purely visual and start thinking about how it feels to use with a controller</a:t>
            </a:r>
            <a:endParaRPr lang="en-US" sz="1300" dirty="0"/>
          </a:p>
        </p:txBody>
      </p:sp>
      <p:sp>
        <p:nvSpPr>
          <p:cNvPr id="7" name="Text 2">
            <a:extLst>
              <a:ext uri="{FF2B5EF4-FFF2-40B4-BE49-F238E27FC236}">
                <a16:creationId xmlns:a16="http://schemas.microsoft.com/office/drawing/2014/main" id="{1C14A70B-195B-8AEC-8D7C-E6E27AD0575B}"/>
              </a:ext>
            </a:extLst>
          </p:cNvPr>
          <p:cNvSpPr/>
          <p:nvPr/>
        </p:nvSpPr>
        <p:spPr>
          <a:xfrm>
            <a:off x="5850402" y="3011000"/>
            <a:ext cx="3441147" cy="365760"/>
          </a:xfrm>
          <a:prstGeom prst="rect">
            <a:avLst/>
          </a:prstGeom>
          <a:noFill/>
          <a:ln/>
        </p:spPr>
        <p:txBody>
          <a:bodyPr wrap="square" lIns="0" tIns="0" rIns="0" bIns="0" rtlCol="0" anchor="ctr"/>
          <a:lstStyle/>
          <a:p>
            <a:r>
              <a:rPr lang="en-US" sz="600" i="1" dirty="0">
                <a:solidFill>
                  <a:srgbClr val="8888BB"/>
                </a:solidFill>
                <a:latin typeface="Calibri" pitchFamily="34" charset="0"/>
                <a:ea typeface="Calibri" pitchFamily="34" charset="-122"/>
                <a:cs typeface="Calibri" pitchFamily="34" charset="-120"/>
              </a:rPr>
              <a:t>Source: https://giphy.com/gifs/cats-memes-funny-cat-pY8jLmZw0ElqvVeRH4</a:t>
            </a:r>
            <a:endParaRPr lang="en-US" sz="600" dirty="0"/>
          </a:p>
        </p:txBody>
      </p:sp>
      <p:pic>
        <p:nvPicPr>
          <p:cNvPr id="9" name="Picture 8">
            <a:extLst>
              <a:ext uri="{FF2B5EF4-FFF2-40B4-BE49-F238E27FC236}">
                <a16:creationId xmlns:a16="http://schemas.microsoft.com/office/drawing/2014/main" id="{316D55FC-A7BD-4097-DF44-AE7417FAC89C}"/>
              </a:ext>
            </a:extLst>
          </p:cNvPr>
          <p:cNvPicPr>
            <a:picLocks noChangeAspect="1"/>
          </p:cNvPicPr>
          <p:nvPr/>
        </p:nvPicPr>
        <p:blipFill>
          <a:blip r:embed="rId3"/>
          <a:stretch>
            <a:fillRect/>
          </a:stretch>
        </p:blipFill>
        <p:spPr>
          <a:xfrm>
            <a:off x="5850402" y="914400"/>
            <a:ext cx="2188040" cy="21880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52550"/>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600" b="1" kern="0" spc="400" dirty="0">
                <a:solidFill>
                  <a:srgbClr val="FFFFFF"/>
                </a:solidFill>
                <a:latin typeface="Trebuchet MS" pitchFamily="34" charset="0"/>
                <a:ea typeface="Trebuchet MS" pitchFamily="34" charset="-122"/>
                <a:cs typeface="Trebuchet MS" pitchFamily="34" charset="-120"/>
              </a:rPr>
              <a:t>TECHNICAL CHALLENGES</a:t>
            </a:r>
            <a:endParaRPr lang="en-US" sz="2600" dirty="0"/>
          </a:p>
        </p:txBody>
      </p:sp>
      <p:sp>
        <p:nvSpPr>
          <p:cNvPr id="3" name="Shape 1"/>
          <p:cNvSpPr/>
          <p:nvPr/>
        </p:nvSpPr>
        <p:spPr>
          <a:xfrm>
            <a:off x="548640" y="768096"/>
            <a:ext cx="3931920" cy="2196724"/>
          </a:xfrm>
          <a:prstGeom prst="rect">
            <a:avLst/>
          </a:prstGeom>
          <a:solidFill>
            <a:srgbClr val="2A2A55"/>
          </a:solidFill>
          <a:ln/>
          <a:effectLst>
            <a:outerShdw blurRad="76200" dist="25400" dir="8100000" algn="bl" rotWithShape="0">
              <a:srgbClr val="000000">
                <a:alpha val="20000"/>
              </a:srgbClr>
            </a:outerShdw>
          </a:effectLst>
        </p:spPr>
        <p:txBody>
          <a:bodyPr/>
          <a:lstStyle/>
          <a:p>
            <a:endParaRPr lang="en-GB"/>
          </a:p>
        </p:txBody>
      </p:sp>
      <p:sp>
        <p:nvSpPr>
          <p:cNvPr id="4" name="Shape 2"/>
          <p:cNvSpPr/>
          <p:nvPr/>
        </p:nvSpPr>
        <p:spPr>
          <a:xfrm>
            <a:off x="548640" y="768096"/>
            <a:ext cx="3931920" cy="54864"/>
          </a:xfrm>
          <a:prstGeom prst="rect">
            <a:avLst/>
          </a:prstGeom>
          <a:solidFill>
            <a:srgbClr val="4A6CF7"/>
          </a:solidFill>
          <a:ln/>
        </p:spPr>
        <p:txBody>
          <a:bodyPr/>
          <a:lstStyle/>
          <a:p>
            <a:endParaRPr lang="en-GB"/>
          </a:p>
        </p:txBody>
      </p:sp>
      <p:sp>
        <p:nvSpPr>
          <p:cNvPr id="5" name="Text 3"/>
          <p:cNvSpPr/>
          <p:nvPr/>
        </p:nvSpPr>
        <p:spPr>
          <a:xfrm>
            <a:off x="731735" y="845820"/>
            <a:ext cx="3657600" cy="4114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Focus &amp; Navigation Issues</a:t>
            </a:r>
            <a:endParaRPr lang="en-US" sz="1500" dirty="0"/>
          </a:p>
        </p:txBody>
      </p:sp>
      <p:sp>
        <p:nvSpPr>
          <p:cNvPr id="6" name="Text 4"/>
          <p:cNvSpPr/>
          <p:nvPr/>
        </p:nvSpPr>
        <p:spPr>
          <a:xfrm>
            <a:off x="731735" y="1303020"/>
            <a:ext cx="3611880" cy="2468880"/>
          </a:xfrm>
          <a:prstGeom prst="rect">
            <a:avLst/>
          </a:prstGeom>
          <a:noFill/>
          <a:ln/>
        </p:spPr>
        <p:txBody>
          <a:bodyPr wrap="square" rtlCol="0" anchor="t"/>
          <a:lstStyle/>
          <a:p>
            <a:pPr marL="342900" indent="-342900">
              <a:spcAft>
                <a:spcPts val="500"/>
              </a:spcAft>
              <a:buSzPct val="100000"/>
              <a:buChar char="•"/>
            </a:pPr>
            <a:r>
              <a:rPr lang="en-US" sz="1100" dirty="0">
                <a:solidFill>
                  <a:srgbClr val="B0B0D0"/>
                </a:solidFill>
                <a:latin typeface="Calibri" pitchFamily="34" charset="0"/>
                <a:ea typeface="Calibri" pitchFamily="34" charset="-122"/>
                <a:cs typeface="Calibri" pitchFamily="34" charset="-120"/>
              </a:rPr>
              <a:t>Not just about making the controller do something about making menus properly usable</a:t>
            </a:r>
            <a:endParaRPr lang="en-US" sz="1100" dirty="0"/>
          </a:p>
          <a:p>
            <a:pPr marL="342900" indent="-342900">
              <a:spcAft>
                <a:spcPts val="500"/>
              </a:spcAft>
              <a:buSzPct val="100000"/>
              <a:buChar char="•"/>
            </a:pPr>
            <a:r>
              <a:rPr lang="en-US" sz="1100" dirty="0">
                <a:solidFill>
                  <a:srgbClr val="B0B0D0"/>
                </a:solidFill>
                <a:latin typeface="Calibri" pitchFamily="34" charset="0"/>
                <a:ea typeface="Calibri" pitchFamily="34" charset="-122"/>
                <a:cs typeface="Calibri" pitchFamily="34" charset="-120"/>
              </a:rPr>
              <a:t>UI technically worked, but the focus didn't behave right</a:t>
            </a:r>
            <a:endParaRPr lang="en-US" sz="1100" dirty="0"/>
          </a:p>
          <a:p>
            <a:pPr marL="342900" indent="-342900">
              <a:spcAft>
                <a:spcPts val="500"/>
              </a:spcAft>
              <a:buSzPct val="100000"/>
              <a:buChar char="•"/>
            </a:pPr>
            <a:r>
              <a:rPr lang="en-US" sz="1100" dirty="0">
                <a:solidFill>
                  <a:srgbClr val="B0B0D0"/>
                </a:solidFill>
                <a:latin typeface="Calibri" pitchFamily="34" charset="0"/>
                <a:ea typeface="Calibri" pitchFamily="34" charset="-122"/>
                <a:cs typeface="Calibri" pitchFamily="34" charset="-120"/>
              </a:rPr>
              <a:t> The flow between menu elements didn't feel smooth enough</a:t>
            </a:r>
            <a:endParaRPr lang="en-US" sz="1100" dirty="0"/>
          </a:p>
          <a:p>
            <a:pPr marL="342900" indent="-342900">
              <a:spcAft>
                <a:spcPts val="500"/>
              </a:spcAft>
              <a:buSzPct val="100000"/>
              <a:buChar char="•"/>
            </a:pPr>
            <a:r>
              <a:rPr lang="en-US" sz="1100" dirty="0">
                <a:solidFill>
                  <a:srgbClr val="B0B0D0"/>
                </a:solidFill>
                <a:latin typeface="Calibri" pitchFamily="34" charset="0"/>
                <a:ea typeface="Calibri" pitchFamily="34" charset="-122"/>
                <a:cs typeface="Calibri" pitchFamily="34" charset="-120"/>
              </a:rPr>
              <a:t>Required constant testing and adjusting until navigation felt consistent</a:t>
            </a:r>
            <a:endParaRPr lang="en-US" sz="1100" dirty="0"/>
          </a:p>
        </p:txBody>
      </p:sp>
      <p:sp>
        <p:nvSpPr>
          <p:cNvPr id="7" name="Shape 5"/>
          <p:cNvSpPr/>
          <p:nvPr/>
        </p:nvSpPr>
        <p:spPr>
          <a:xfrm>
            <a:off x="4846320" y="768096"/>
            <a:ext cx="3931920" cy="2196724"/>
          </a:xfrm>
          <a:prstGeom prst="rect">
            <a:avLst/>
          </a:prstGeom>
          <a:solidFill>
            <a:srgbClr val="2A2A55"/>
          </a:solidFill>
          <a:ln/>
          <a:effectLst>
            <a:outerShdw blurRad="76200" dist="25400" dir="8100000" algn="bl" rotWithShape="0">
              <a:srgbClr val="000000">
                <a:alpha val="20000"/>
              </a:srgbClr>
            </a:outerShdw>
          </a:effectLst>
        </p:spPr>
        <p:txBody>
          <a:bodyPr/>
          <a:lstStyle/>
          <a:p>
            <a:endParaRPr lang="en-GB"/>
          </a:p>
        </p:txBody>
      </p:sp>
      <p:sp>
        <p:nvSpPr>
          <p:cNvPr id="8" name="Shape 6"/>
          <p:cNvSpPr/>
          <p:nvPr/>
        </p:nvSpPr>
        <p:spPr>
          <a:xfrm>
            <a:off x="4846320" y="768096"/>
            <a:ext cx="3931920" cy="54864"/>
          </a:xfrm>
          <a:prstGeom prst="rect">
            <a:avLst/>
          </a:prstGeom>
          <a:solidFill>
            <a:srgbClr val="E05050"/>
          </a:solidFill>
          <a:ln/>
        </p:spPr>
        <p:txBody>
          <a:bodyPr/>
          <a:lstStyle/>
          <a:p>
            <a:endParaRPr lang="en-GB"/>
          </a:p>
        </p:txBody>
      </p:sp>
      <p:sp>
        <p:nvSpPr>
          <p:cNvPr id="9" name="Text 7"/>
          <p:cNvSpPr/>
          <p:nvPr/>
        </p:nvSpPr>
        <p:spPr>
          <a:xfrm>
            <a:off x="5029415" y="845820"/>
            <a:ext cx="3657600" cy="41148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Remap System Problem</a:t>
            </a:r>
            <a:endParaRPr lang="en-US" sz="1500" dirty="0"/>
          </a:p>
        </p:txBody>
      </p:sp>
      <p:sp>
        <p:nvSpPr>
          <p:cNvPr id="10" name="Text 8"/>
          <p:cNvSpPr/>
          <p:nvPr/>
        </p:nvSpPr>
        <p:spPr>
          <a:xfrm>
            <a:off x="5029415" y="1303020"/>
            <a:ext cx="3611880" cy="2468880"/>
          </a:xfrm>
          <a:prstGeom prst="rect">
            <a:avLst/>
          </a:prstGeom>
          <a:noFill/>
          <a:ln/>
        </p:spPr>
        <p:txBody>
          <a:bodyPr wrap="square" rtlCol="0" anchor="t"/>
          <a:lstStyle/>
          <a:p>
            <a:pPr marL="342900" indent="-342900">
              <a:spcAft>
                <a:spcPts val="500"/>
              </a:spcAft>
              <a:buSzPct val="100000"/>
              <a:buChar char="•"/>
            </a:pPr>
            <a:r>
              <a:rPr lang="en-US" sz="1100" dirty="0">
                <a:solidFill>
                  <a:srgbClr val="B0B0D0"/>
                </a:solidFill>
                <a:latin typeface="Calibri" pitchFamily="34" charset="0"/>
                <a:ea typeface="Calibri" pitchFamily="34" charset="-122"/>
                <a:cs typeface="Calibri" pitchFamily="34" charset="-120"/>
              </a:rPr>
              <a:t>Tutorial was for older Unreal version project uses UE 5.6.1</a:t>
            </a:r>
            <a:endParaRPr lang="en-US" sz="1100" dirty="0"/>
          </a:p>
          <a:p>
            <a:pPr marL="342900" indent="-342900">
              <a:spcAft>
                <a:spcPts val="500"/>
              </a:spcAft>
              <a:buSzPct val="100000"/>
              <a:buChar char="•"/>
            </a:pPr>
            <a:r>
              <a:rPr lang="en-US" sz="1100" dirty="0">
                <a:solidFill>
                  <a:srgbClr val="B0B0D0"/>
                </a:solidFill>
                <a:latin typeface="Calibri" pitchFamily="34" charset="0"/>
                <a:ea typeface="Calibri" pitchFamily="34" charset="-122"/>
                <a:cs typeface="Calibri" pitchFamily="34" charset="-120"/>
              </a:rPr>
              <a:t>Enhanced Input setup was noticeably different between versions</a:t>
            </a:r>
            <a:endParaRPr lang="en-US" sz="1100" dirty="0"/>
          </a:p>
          <a:p>
            <a:pPr marL="342900" indent="-342900">
              <a:spcAft>
                <a:spcPts val="500"/>
              </a:spcAft>
              <a:buSzPct val="100000"/>
              <a:buChar char="•"/>
            </a:pPr>
            <a:r>
              <a:rPr lang="en-US" sz="1100" dirty="0">
                <a:solidFill>
                  <a:srgbClr val="B0B0D0"/>
                </a:solidFill>
                <a:latin typeface="Calibri" pitchFamily="34" charset="0"/>
                <a:ea typeface="Calibri" pitchFamily="34" charset="-122"/>
                <a:cs typeface="Calibri" pitchFamily="34" charset="-120"/>
              </a:rPr>
              <a:t>Caused conflicts once all controls were added to Input Mapping Context</a:t>
            </a:r>
            <a:endParaRPr lang="en-US" sz="1100" dirty="0"/>
          </a:p>
          <a:p>
            <a:pPr marL="342900" indent="-342900">
              <a:spcAft>
                <a:spcPts val="500"/>
              </a:spcAft>
              <a:buSzPct val="100000"/>
              <a:buChar char="•"/>
            </a:pPr>
            <a:r>
              <a:rPr lang="en-US" sz="1100" dirty="0">
                <a:solidFill>
                  <a:srgbClr val="B0B0D0"/>
                </a:solidFill>
                <a:latin typeface="Calibri" pitchFamily="34" charset="0"/>
                <a:ea typeface="Calibri" pitchFamily="34" charset="-122"/>
                <a:cs typeface="Calibri" pitchFamily="34" charset="-120"/>
              </a:rPr>
              <a:t>Feature removed couldn't fix properly before deadline</a:t>
            </a:r>
            <a:endParaRPr lang="en-US" sz="1100" dirty="0"/>
          </a:p>
          <a:p>
            <a:pPr marL="342900" indent="-342900">
              <a:spcAft>
                <a:spcPts val="500"/>
              </a:spcAft>
              <a:buSzPct val="100000"/>
              <a:buChar char="•"/>
            </a:pPr>
            <a:r>
              <a:rPr lang="en-US" sz="1100" dirty="0">
                <a:solidFill>
                  <a:srgbClr val="FFB0B0"/>
                </a:solidFill>
                <a:latin typeface="Calibri" pitchFamily="34" charset="0"/>
                <a:ea typeface="Calibri" pitchFamily="34" charset="-122"/>
                <a:cs typeface="Calibri" pitchFamily="34" charset="-120"/>
              </a:rPr>
              <a:t>Lesson: check tutorial version compatibility first!</a:t>
            </a:r>
            <a:endParaRPr lang="en-US" sz="1100" dirty="0"/>
          </a:p>
        </p:txBody>
      </p:sp>
      <p:sp>
        <p:nvSpPr>
          <p:cNvPr id="12" name="Text 2">
            <a:extLst>
              <a:ext uri="{FF2B5EF4-FFF2-40B4-BE49-F238E27FC236}">
                <a16:creationId xmlns:a16="http://schemas.microsoft.com/office/drawing/2014/main" id="{E138B18C-E46D-A8BD-907C-ED807FCE6787}"/>
              </a:ext>
            </a:extLst>
          </p:cNvPr>
          <p:cNvSpPr/>
          <p:nvPr/>
        </p:nvSpPr>
        <p:spPr>
          <a:xfrm>
            <a:off x="6406590" y="4721447"/>
            <a:ext cx="3441147" cy="365760"/>
          </a:xfrm>
          <a:prstGeom prst="rect">
            <a:avLst/>
          </a:prstGeom>
          <a:noFill/>
          <a:ln/>
        </p:spPr>
        <p:txBody>
          <a:bodyPr wrap="square" lIns="0" tIns="0" rIns="0" bIns="0" rtlCol="0" anchor="ctr"/>
          <a:lstStyle/>
          <a:p>
            <a:r>
              <a:rPr lang="en-US" sz="600" i="1" dirty="0">
                <a:solidFill>
                  <a:srgbClr val="8888BB"/>
                </a:solidFill>
                <a:latin typeface="Calibri" pitchFamily="34" charset="0"/>
                <a:ea typeface="Calibri" pitchFamily="34" charset="-122"/>
                <a:cs typeface="Calibri" pitchFamily="34" charset="-120"/>
              </a:rPr>
              <a:t>Source: https://giphy.com/gifs/windows-vaporwave-error-mq5y2jHRCAqMo</a:t>
            </a:r>
            <a:endParaRPr lang="en-US" sz="600" dirty="0"/>
          </a:p>
        </p:txBody>
      </p:sp>
      <p:pic>
        <p:nvPicPr>
          <p:cNvPr id="16" name="Picture 15">
            <a:extLst>
              <a:ext uri="{FF2B5EF4-FFF2-40B4-BE49-F238E27FC236}">
                <a16:creationId xmlns:a16="http://schemas.microsoft.com/office/drawing/2014/main" id="{C2BD573B-D183-29BE-2A6C-2EBBFC72B0BD}"/>
              </a:ext>
            </a:extLst>
          </p:cNvPr>
          <p:cNvPicPr>
            <a:picLocks noChangeAspect="1"/>
          </p:cNvPicPr>
          <p:nvPr/>
        </p:nvPicPr>
        <p:blipFill>
          <a:blip r:embed="rId3"/>
          <a:stretch>
            <a:fillRect/>
          </a:stretch>
        </p:blipFill>
        <p:spPr>
          <a:xfrm>
            <a:off x="6406590" y="3039996"/>
            <a:ext cx="1748742" cy="174874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1828800" y="3840480"/>
            <a:ext cx="6400800" cy="2286000"/>
          </a:xfrm>
          <a:prstGeom prst="ellipse">
            <a:avLst/>
          </a:prstGeom>
          <a:solidFill>
            <a:srgbClr val="3A2070">
              <a:alpha val="60000"/>
            </a:srgbClr>
          </a:solidFill>
          <a:ln w="12700">
            <a:solidFill>
              <a:srgbClr val="333333"/>
            </a:solidFill>
            <a:prstDash val="solid"/>
          </a:ln>
        </p:spPr>
        <p:txBody>
          <a:bodyPr/>
          <a:lstStyle/>
          <a:p>
            <a:endParaRPr lang="en-GB"/>
          </a:p>
        </p:txBody>
      </p:sp>
      <p:sp>
        <p:nvSpPr>
          <p:cNvPr id="3" name="Shape 1"/>
          <p:cNvSpPr/>
          <p:nvPr/>
        </p:nvSpPr>
        <p:spPr>
          <a:xfrm>
            <a:off x="4572000" y="4114800"/>
            <a:ext cx="7315200" cy="2286000"/>
          </a:xfrm>
          <a:prstGeom prst="ellipse">
            <a:avLst/>
          </a:prstGeom>
          <a:solidFill>
            <a:srgbClr val="2A3080">
              <a:alpha val="50000"/>
            </a:srgbClr>
          </a:solidFill>
          <a:ln w="12700">
            <a:solidFill>
              <a:srgbClr val="333333"/>
            </a:solidFill>
            <a:prstDash val="solid"/>
          </a:ln>
        </p:spPr>
        <p:txBody>
          <a:bodyPr/>
          <a:lstStyle/>
          <a:p>
            <a:endParaRPr lang="en-GB"/>
          </a:p>
        </p:txBody>
      </p:sp>
      <p:sp>
        <p:nvSpPr>
          <p:cNvPr id="4" name="Text 2"/>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3000" b="1" kern="0" spc="500" dirty="0">
                <a:solidFill>
                  <a:srgbClr val="FFFFFF"/>
                </a:solidFill>
                <a:latin typeface="Trebuchet MS" pitchFamily="34" charset="0"/>
                <a:ea typeface="Trebuchet MS" pitchFamily="34" charset="-122"/>
                <a:cs typeface="Trebuchet MS" pitchFamily="34" charset="-120"/>
              </a:rPr>
              <a:t>TESTING</a:t>
            </a:r>
            <a:endParaRPr lang="en-US" sz="3000" dirty="0"/>
          </a:p>
        </p:txBody>
      </p:sp>
      <p:sp>
        <p:nvSpPr>
          <p:cNvPr id="5" name="Text 3"/>
          <p:cNvSpPr/>
          <p:nvPr/>
        </p:nvSpPr>
        <p:spPr>
          <a:xfrm>
            <a:off x="548640" y="914400"/>
            <a:ext cx="5029200" cy="2926080"/>
          </a:xfrm>
          <a:prstGeom prst="rect">
            <a:avLst/>
          </a:prstGeom>
          <a:noFill/>
          <a:ln/>
        </p:spPr>
        <p:txBody>
          <a:bodyPr wrap="square" rtlCol="0" anchor="t"/>
          <a:lstStyle/>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Internal testing in Unreal, checking the pause menu during actual use</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Tested behaviour during real use, not just how it looked on screen</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Scene testing: checked pause menu in the actual game scene, not in isolation</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Menu needed to feel like part of the game while running</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Also tested the build through Steam things can behave differently outside the editor</a:t>
            </a:r>
            <a:endParaRPr lang="en-US" sz="1300" dirty="0"/>
          </a:p>
        </p:txBody>
      </p:sp>
      <p:pic>
        <p:nvPicPr>
          <p:cNvPr id="9" name="Picture 8">
            <a:extLst>
              <a:ext uri="{FF2B5EF4-FFF2-40B4-BE49-F238E27FC236}">
                <a16:creationId xmlns:a16="http://schemas.microsoft.com/office/drawing/2014/main" id="{555EE547-C297-2FA4-1E2F-76E2CAD7B9A1}"/>
              </a:ext>
            </a:extLst>
          </p:cNvPr>
          <p:cNvPicPr>
            <a:picLocks noChangeAspect="1"/>
          </p:cNvPicPr>
          <p:nvPr/>
        </p:nvPicPr>
        <p:blipFill>
          <a:blip r:embed="rId3"/>
          <a:stretch>
            <a:fillRect/>
          </a:stretch>
        </p:blipFill>
        <p:spPr>
          <a:xfrm>
            <a:off x="5556388" y="914400"/>
            <a:ext cx="3353987" cy="2535614"/>
          </a:xfrm>
          <a:prstGeom prst="rect">
            <a:avLst/>
          </a:prstGeom>
        </p:spPr>
      </p:pic>
      <p:sp>
        <p:nvSpPr>
          <p:cNvPr id="7" name="Text 2">
            <a:extLst>
              <a:ext uri="{FF2B5EF4-FFF2-40B4-BE49-F238E27FC236}">
                <a16:creationId xmlns:a16="http://schemas.microsoft.com/office/drawing/2014/main" id="{EA2B6644-ADC0-2C29-F910-C1B67E31C98A}"/>
              </a:ext>
            </a:extLst>
          </p:cNvPr>
          <p:cNvSpPr/>
          <p:nvPr/>
        </p:nvSpPr>
        <p:spPr>
          <a:xfrm>
            <a:off x="5556388" y="3330528"/>
            <a:ext cx="3441147" cy="365760"/>
          </a:xfrm>
          <a:prstGeom prst="rect">
            <a:avLst/>
          </a:prstGeom>
          <a:noFill/>
          <a:ln/>
        </p:spPr>
        <p:txBody>
          <a:bodyPr wrap="square" lIns="0" tIns="0" rIns="0" bIns="0" rtlCol="0" anchor="ctr"/>
          <a:lstStyle/>
          <a:p>
            <a:r>
              <a:rPr lang="en-US" sz="600" i="1" dirty="0">
                <a:solidFill>
                  <a:srgbClr val="8888BB"/>
                </a:solidFill>
                <a:latin typeface="Calibri" pitchFamily="34" charset="0"/>
                <a:ea typeface="Calibri" pitchFamily="34" charset="-122"/>
                <a:cs typeface="Calibri" pitchFamily="34" charset="-120"/>
              </a:rPr>
              <a:t>Source: https://giphy.com/gifs/videogames-y0NFayaBeiWEU</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52550"/>
        </a:solidFill>
        <a:effectLst/>
      </p:bgPr>
    </p:bg>
    <p:spTree>
      <p:nvGrpSpPr>
        <p:cNvPr id="1" name=""/>
        <p:cNvGrpSpPr/>
        <p:nvPr/>
      </p:nvGrpSpPr>
      <p:grpSpPr>
        <a:xfrm>
          <a:off x="0" y="0"/>
          <a:ext cx="0" cy="0"/>
          <a:chOff x="0" y="0"/>
          <a:chExt cx="0" cy="0"/>
        </a:xfrm>
      </p:grpSpPr>
      <p:sp>
        <p:nvSpPr>
          <p:cNvPr id="2" name="Text 0"/>
          <p:cNvSpPr/>
          <p:nvPr/>
        </p:nvSpPr>
        <p:spPr>
          <a:xfrm>
            <a:off x="548640" y="182880"/>
            <a:ext cx="8229600" cy="548640"/>
          </a:xfrm>
          <a:prstGeom prst="rect">
            <a:avLst/>
          </a:prstGeom>
          <a:noFill/>
          <a:ln/>
        </p:spPr>
        <p:txBody>
          <a:bodyPr wrap="square" lIns="0" tIns="0" rIns="0" bIns="0" rtlCol="0" anchor="ctr"/>
          <a:lstStyle/>
          <a:p>
            <a:pPr marL="0" indent="0" algn="l">
              <a:buNone/>
            </a:pPr>
            <a:r>
              <a:rPr lang="en-US" sz="2600" b="1" kern="0" spc="400" dirty="0">
                <a:solidFill>
                  <a:srgbClr val="FFFFFF"/>
                </a:solidFill>
                <a:latin typeface="Trebuchet MS" pitchFamily="34" charset="0"/>
                <a:ea typeface="Trebuchet MS" pitchFamily="34" charset="-122"/>
                <a:cs typeface="Trebuchet MS" pitchFamily="34" charset="-120"/>
              </a:rPr>
              <a:t>TESTING RESULTS</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2880360"/>
        </p:xfrm>
        <a:graphic>
          <a:graphicData uri="http://schemas.openxmlformats.org/drawingml/2006/table">
            <a:tbl>
              <a:tblPr/>
              <a:tblGrid>
                <a:gridCol w="13716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36576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Test Area</a:t>
                      </a:r>
                      <a:endParaRPr lang="en-US" sz="10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4A6CF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4A6CF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What Was Checked</a:t>
                      </a:r>
                      <a:endParaRPr lang="en-US" sz="10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4A6CF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4A6CF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4A6CF7"/>
                    </a:solidFill>
                  </a:tcPr>
                </a:tc>
                <a:extLst>
                  <a:ext uri="{0D108BD9-81ED-4DB2-BD59-A6C34878D82A}">
                    <a16:rowId xmlns:a16="http://schemas.microsoft.com/office/drawing/2014/main" val="10000"/>
                  </a:ext>
                </a:extLst>
              </a:tr>
              <a:tr h="502920">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Controller Focus</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Internal</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Selected button always clear</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Focus needed adjusting</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Refined focus &amp; nav flow</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extLst>
                  <a:ext uri="{0D108BD9-81ED-4DB2-BD59-A6C34878D82A}">
                    <a16:rowId xmlns:a16="http://schemas.microsoft.com/office/drawing/2014/main" val="10001"/>
                  </a:ext>
                </a:extLst>
              </a:tr>
              <a:tr h="502920">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Menu Navigation</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Internal</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Smooth movement through pause menu</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Some movement awkward at first</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Improved nav order</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extLst>
                  <a:ext uri="{0D108BD9-81ED-4DB2-BD59-A6C34878D82A}">
                    <a16:rowId xmlns:a16="http://schemas.microsoft.com/office/drawing/2014/main" val="10002"/>
                  </a:ext>
                </a:extLst>
              </a:tr>
              <a:tr h="502920">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Widget Switcher</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Internal</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Sections change cleanly</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Worked well, consistent layout</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Kept in final build</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extLst>
                  <a:ext uri="{0D108BD9-81ED-4DB2-BD59-A6C34878D82A}">
                    <a16:rowId xmlns:a16="http://schemas.microsoft.com/office/drawing/2014/main" val="10003"/>
                  </a:ext>
                </a:extLst>
              </a:tr>
              <a:tr h="502920">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Remap System</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Internal</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Controls remapped correctly</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tc>
                  <a:txBody>
                    <a:bodyPr/>
                    <a:lstStyle/>
                    <a:p>
                      <a:pPr marL="0" indent="0">
                        <a:buNone/>
                      </a:pPr>
                      <a:r>
                        <a:rPr lang="en-US" sz="900" dirty="0">
                          <a:solidFill>
                            <a:srgbClr val="FF8888"/>
                          </a:solidFill>
                          <a:latin typeface="Calibri" pitchFamily="34" charset="0"/>
                          <a:ea typeface="Calibri" pitchFamily="34" charset="-122"/>
                          <a:cs typeface="Calibri" pitchFamily="34" charset="-120"/>
                        </a:rPr>
                        <a:t>Caused conflicts, unreliable</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Removed from build</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F2F5A"/>
                    </a:solidFill>
                  </a:tcPr>
                </a:tc>
                <a:extLst>
                  <a:ext uri="{0D108BD9-81ED-4DB2-BD59-A6C34878D82A}">
                    <a16:rowId xmlns:a16="http://schemas.microsoft.com/office/drawing/2014/main" val="10004"/>
                  </a:ext>
                </a:extLst>
              </a:tr>
              <a:tr h="502920">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Steam Controller</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Build</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Controller input via Steam</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FF8888"/>
                          </a:solidFill>
                          <a:latin typeface="Calibri" pitchFamily="34" charset="0"/>
                          <a:ea typeface="Calibri" pitchFamily="34" charset="-122"/>
                          <a:cs typeface="Calibri" pitchFamily="34" charset="-120"/>
                        </a:rPr>
                        <a:t>Not working properly</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tc>
                  <a:txBody>
                    <a:bodyPr/>
                    <a:lstStyle/>
                    <a:p>
                      <a:pPr marL="0" indent="0">
                        <a:buNone/>
                      </a:pPr>
                      <a:r>
                        <a:rPr lang="en-US" sz="900" dirty="0">
                          <a:solidFill>
                            <a:srgbClr val="B0B0D0"/>
                          </a:solidFill>
                          <a:latin typeface="Calibri" pitchFamily="34" charset="0"/>
                          <a:ea typeface="Calibri" pitchFamily="34" charset="-122"/>
                          <a:cs typeface="Calibri" pitchFamily="34" charset="-120"/>
                        </a:rPr>
                        <a:t>Needs fixing</a:t>
                      </a:r>
                      <a:endParaRPr lang="en-US" sz="900" dirty="0">
                        <a:latin typeface="Calibri" charset="0"/>
                        <a:ea typeface="Calibri" charset="0"/>
                        <a:cs typeface="Calibri" charset="0"/>
                      </a:endParaRPr>
                    </a:p>
                  </a:txBody>
                  <a:tcPr anchor="ctr">
                    <a:lnL w="6350" cap="flat" cmpd="sng" algn="ctr">
                      <a:solidFill>
                        <a:srgbClr val="3A3A6A"/>
                      </a:solidFill>
                      <a:prstDash val="solid"/>
                      <a:round/>
                      <a:headEnd type="none" w="med" len="med"/>
                      <a:tailEnd type="none" w="med" len="med"/>
                    </a:lnL>
                    <a:lnR w="6350" cap="flat" cmpd="sng" algn="ctr">
                      <a:solidFill>
                        <a:srgbClr val="3A3A6A"/>
                      </a:solidFill>
                      <a:prstDash val="solid"/>
                      <a:round/>
                      <a:headEnd type="none" w="med" len="med"/>
                      <a:tailEnd type="none" w="med" len="med"/>
                    </a:lnR>
                    <a:lnT w="6350" cap="flat" cmpd="sng" algn="ctr">
                      <a:solidFill>
                        <a:srgbClr val="3A3A6A"/>
                      </a:solidFill>
                      <a:prstDash val="solid"/>
                      <a:round/>
                      <a:headEnd type="none" w="med" len="med"/>
                      <a:tailEnd type="none" w="med" len="med"/>
                    </a:lnT>
                    <a:lnB w="6350" cap="flat" cmpd="sng" algn="ctr">
                      <a:solidFill>
                        <a:srgbClr val="3A3A6A"/>
                      </a:solidFill>
                      <a:prstDash val="solid"/>
                      <a:round/>
                      <a:headEnd type="none" w="med" len="med"/>
                      <a:tailEnd type="none" w="med" len="med"/>
                    </a:lnB>
                    <a:solidFill>
                      <a:srgbClr val="2A2A55"/>
                    </a:solidFill>
                  </a:tcPr>
                </a:tc>
                <a:extLst>
                  <a:ext uri="{0D108BD9-81ED-4DB2-BD59-A6C34878D82A}">
                    <a16:rowId xmlns:a16="http://schemas.microsoft.com/office/drawing/2014/main" val="10005"/>
                  </a:ext>
                </a:extLst>
              </a:tr>
            </a:tbl>
          </a:graphicData>
        </a:graphic>
      </p:graphicFrame>
      <p:sp>
        <p:nvSpPr>
          <p:cNvPr id="4" name="Text 1"/>
          <p:cNvSpPr/>
          <p:nvPr/>
        </p:nvSpPr>
        <p:spPr>
          <a:xfrm>
            <a:off x="548640" y="3840480"/>
            <a:ext cx="2743200"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Key Findings</a:t>
            </a:r>
            <a:endParaRPr lang="en-US" sz="1400" dirty="0"/>
          </a:p>
        </p:txBody>
      </p:sp>
      <p:sp>
        <p:nvSpPr>
          <p:cNvPr id="5" name="Text 2"/>
          <p:cNvSpPr/>
          <p:nvPr/>
        </p:nvSpPr>
        <p:spPr>
          <a:xfrm>
            <a:off x="548640" y="4160520"/>
            <a:ext cx="8229600" cy="822960"/>
          </a:xfrm>
          <a:prstGeom prst="rect">
            <a:avLst/>
          </a:prstGeom>
          <a:noFill/>
          <a:ln/>
        </p:spPr>
        <p:txBody>
          <a:bodyPr wrap="square" rtlCol="0" anchor="ctr"/>
          <a:lstStyle/>
          <a:p>
            <a:pPr marL="342900" indent="-342900">
              <a:spcAft>
                <a:spcPts val="400"/>
              </a:spcAft>
              <a:buSzPct val="100000"/>
              <a:buChar char="•"/>
            </a:pPr>
            <a:r>
              <a:rPr lang="en-US" sz="1100" dirty="0">
                <a:solidFill>
                  <a:srgbClr val="B0B0D0"/>
                </a:solidFill>
                <a:latin typeface="Calibri" pitchFamily="34" charset="0"/>
                <a:ea typeface="Calibri" pitchFamily="34" charset="-122"/>
                <a:cs typeface="Calibri" pitchFamily="34" charset="-120"/>
              </a:rPr>
              <a:t>Testing inside Unreal doesn't always show what happens in the final build</a:t>
            </a:r>
            <a:endParaRPr lang="en-US" sz="1100" dirty="0"/>
          </a:p>
          <a:p>
            <a:pPr marL="342900" indent="-342900">
              <a:spcAft>
                <a:spcPts val="400"/>
              </a:spcAft>
              <a:buSzPct val="100000"/>
              <a:buChar char="•"/>
            </a:pPr>
            <a:r>
              <a:rPr lang="en-US" sz="1100" dirty="0">
                <a:solidFill>
                  <a:srgbClr val="FFB0B0"/>
                </a:solidFill>
                <a:latin typeface="Calibri" pitchFamily="34" charset="0"/>
                <a:ea typeface="Calibri" pitchFamily="34" charset="-122"/>
                <a:cs typeface="Calibri" pitchFamily="34" charset="-120"/>
              </a:rPr>
              <a:t>Steam controller support is the main outstanding issue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1828800" y="3840480"/>
            <a:ext cx="6400800" cy="2286000"/>
          </a:xfrm>
          <a:prstGeom prst="ellipse">
            <a:avLst/>
          </a:prstGeom>
          <a:solidFill>
            <a:srgbClr val="3A2070">
              <a:alpha val="60000"/>
            </a:srgbClr>
          </a:solidFill>
          <a:ln w="12700">
            <a:solidFill>
              <a:srgbClr val="333333"/>
            </a:solidFill>
            <a:prstDash val="solid"/>
          </a:ln>
        </p:spPr>
        <p:txBody>
          <a:bodyPr/>
          <a:lstStyle/>
          <a:p>
            <a:endParaRPr lang="en-GB"/>
          </a:p>
        </p:txBody>
      </p:sp>
      <p:sp>
        <p:nvSpPr>
          <p:cNvPr id="3" name="Shape 1"/>
          <p:cNvSpPr/>
          <p:nvPr/>
        </p:nvSpPr>
        <p:spPr>
          <a:xfrm>
            <a:off x="4572000" y="4114800"/>
            <a:ext cx="7315200" cy="2286000"/>
          </a:xfrm>
          <a:prstGeom prst="ellipse">
            <a:avLst/>
          </a:prstGeom>
          <a:solidFill>
            <a:srgbClr val="2A3080">
              <a:alpha val="50000"/>
            </a:srgbClr>
          </a:solidFill>
          <a:ln w="12700">
            <a:solidFill>
              <a:srgbClr val="333333"/>
            </a:solidFill>
            <a:prstDash val="solid"/>
          </a:ln>
        </p:spPr>
        <p:txBody>
          <a:bodyPr/>
          <a:lstStyle/>
          <a:p>
            <a:endParaRPr lang="en-GB"/>
          </a:p>
        </p:txBody>
      </p:sp>
      <p:sp>
        <p:nvSpPr>
          <p:cNvPr id="4" name="Text 2"/>
          <p:cNvSpPr/>
          <p:nvPr/>
        </p:nvSpPr>
        <p:spPr>
          <a:xfrm>
            <a:off x="548640" y="274320"/>
            <a:ext cx="5486400" cy="548640"/>
          </a:xfrm>
          <a:prstGeom prst="rect">
            <a:avLst/>
          </a:prstGeom>
          <a:noFill/>
          <a:ln/>
        </p:spPr>
        <p:txBody>
          <a:bodyPr wrap="square" lIns="0" tIns="0" rIns="0" bIns="0" rtlCol="0" anchor="ctr"/>
          <a:lstStyle/>
          <a:p>
            <a:pPr marL="0" indent="0" algn="l">
              <a:buNone/>
            </a:pPr>
            <a:r>
              <a:rPr lang="en-US" sz="2600" b="1" kern="0" spc="400" dirty="0">
                <a:solidFill>
                  <a:srgbClr val="FFFFFF"/>
                </a:solidFill>
                <a:latin typeface="Trebuchet MS" pitchFamily="34" charset="0"/>
                <a:ea typeface="Trebuchet MS" pitchFamily="34" charset="-122"/>
                <a:cs typeface="Trebuchet MS" pitchFamily="34" charset="-120"/>
              </a:rPr>
              <a:t>KEEPING PLAYERS SAFE</a:t>
            </a:r>
            <a:endParaRPr lang="en-US" sz="2600" dirty="0"/>
          </a:p>
        </p:txBody>
      </p:sp>
      <p:sp>
        <p:nvSpPr>
          <p:cNvPr id="5" name="Text 3"/>
          <p:cNvSpPr/>
          <p:nvPr/>
        </p:nvSpPr>
        <p:spPr>
          <a:xfrm>
            <a:off x="548640" y="914400"/>
            <a:ext cx="3657600" cy="365760"/>
          </a:xfrm>
          <a:prstGeom prst="rect">
            <a:avLst/>
          </a:prstGeom>
          <a:noFill/>
          <a:ln/>
        </p:spPr>
        <p:txBody>
          <a:bodyPr wrap="square" lIns="0" tIns="0" rIns="0" bIns="0" rtlCol="0" anchor="ctr"/>
          <a:lstStyle/>
          <a:p>
            <a:pPr marL="0" indent="0">
              <a:buNone/>
            </a:pPr>
            <a:r>
              <a:rPr lang="en-US" sz="1600" b="1" dirty="0">
                <a:solidFill>
                  <a:srgbClr val="4A6CF7"/>
                </a:solidFill>
                <a:latin typeface="Trebuchet MS" pitchFamily="34" charset="0"/>
                <a:ea typeface="Trebuchet MS" pitchFamily="34" charset="-122"/>
                <a:cs typeface="Trebuchet MS" pitchFamily="34" charset="-120"/>
              </a:rPr>
              <a:t>Current State</a:t>
            </a:r>
            <a:endParaRPr lang="en-US" sz="1600" dirty="0"/>
          </a:p>
        </p:txBody>
      </p:sp>
      <p:sp>
        <p:nvSpPr>
          <p:cNvPr id="6" name="Text 4"/>
          <p:cNvSpPr/>
          <p:nvPr/>
        </p:nvSpPr>
        <p:spPr>
          <a:xfrm>
            <a:off x="548640" y="1280160"/>
            <a:ext cx="4754880" cy="1371600"/>
          </a:xfrm>
          <a:prstGeom prst="rect">
            <a:avLst/>
          </a:prstGeom>
          <a:noFill/>
          <a:ln/>
        </p:spPr>
        <p:txBody>
          <a:bodyPr wrap="square" rtlCol="0" anchor="t"/>
          <a:lstStyle/>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No personal user data collected, stored, or transmitted</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No online services or external databases used</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No unnecessary data tracking or analytics</a:t>
            </a:r>
            <a:endParaRPr lang="en-US" sz="1300" dirty="0"/>
          </a:p>
        </p:txBody>
      </p:sp>
      <p:sp>
        <p:nvSpPr>
          <p:cNvPr id="7" name="Text 5"/>
          <p:cNvSpPr/>
          <p:nvPr/>
        </p:nvSpPr>
        <p:spPr>
          <a:xfrm>
            <a:off x="548640" y="2743200"/>
            <a:ext cx="3657600" cy="365760"/>
          </a:xfrm>
          <a:prstGeom prst="rect">
            <a:avLst/>
          </a:prstGeom>
          <a:noFill/>
          <a:ln/>
        </p:spPr>
        <p:txBody>
          <a:bodyPr wrap="square" lIns="0" tIns="0" rIns="0" bIns="0" rtlCol="0" anchor="ctr"/>
          <a:lstStyle/>
          <a:p>
            <a:pPr marL="0" indent="0">
              <a:buNone/>
            </a:pPr>
            <a:r>
              <a:rPr lang="en-US" sz="1600" b="1" dirty="0">
                <a:solidFill>
                  <a:srgbClr val="6B4FA0"/>
                </a:solidFill>
                <a:latin typeface="Trebuchet MS" pitchFamily="34" charset="0"/>
                <a:ea typeface="Trebuchet MS" pitchFamily="34" charset="-122"/>
                <a:cs typeface="Trebuchet MS" pitchFamily="34" charset="-120"/>
              </a:rPr>
              <a:t>If Expanded</a:t>
            </a:r>
            <a:endParaRPr lang="en-US" sz="1600" dirty="0"/>
          </a:p>
        </p:txBody>
      </p:sp>
      <p:sp>
        <p:nvSpPr>
          <p:cNvPr id="8" name="Text 6"/>
          <p:cNvSpPr/>
          <p:nvPr/>
        </p:nvSpPr>
        <p:spPr>
          <a:xfrm>
            <a:off x="548640" y="3108960"/>
            <a:ext cx="4754880" cy="1645920"/>
          </a:xfrm>
          <a:prstGeom prst="rect">
            <a:avLst/>
          </a:prstGeom>
          <a:noFill/>
          <a:ln/>
        </p:spPr>
        <p:txBody>
          <a:bodyPr wrap="square" rtlCol="0" anchor="t"/>
          <a:lstStyle/>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Clearly define what personal data is collected</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Only collect necessary data</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Provide a clear privacy policy</a:t>
            </a:r>
            <a:endParaRPr lang="en-US" sz="1300" dirty="0"/>
          </a:p>
          <a:p>
            <a:pPr marL="342900" indent="-342900">
              <a:spcAft>
                <a:spcPts val="600"/>
              </a:spcAft>
              <a:buSzPct val="100000"/>
              <a:buChar char="•"/>
            </a:pPr>
            <a:r>
              <a:rPr lang="en-US" sz="1300" dirty="0">
                <a:solidFill>
                  <a:srgbClr val="B0B0D0"/>
                </a:solidFill>
                <a:latin typeface="Calibri" pitchFamily="34" charset="0"/>
                <a:ea typeface="Calibri" pitchFamily="34" charset="-122"/>
                <a:cs typeface="Calibri" pitchFamily="34" charset="-120"/>
              </a:rPr>
              <a:t>Secure and encrypt stored data</a:t>
            </a:r>
            <a:endParaRPr lang="en-US" sz="1300" dirty="0"/>
          </a:p>
        </p:txBody>
      </p:sp>
      <p:pic>
        <p:nvPicPr>
          <p:cNvPr id="11" name="Picture 10">
            <a:extLst>
              <a:ext uri="{FF2B5EF4-FFF2-40B4-BE49-F238E27FC236}">
                <a16:creationId xmlns:a16="http://schemas.microsoft.com/office/drawing/2014/main" id="{B707CC0F-B4FD-30A5-B258-9451B7E437E8}"/>
              </a:ext>
            </a:extLst>
          </p:cNvPr>
          <p:cNvPicPr>
            <a:picLocks noChangeAspect="1"/>
          </p:cNvPicPr>
          <p:nvPr/>
        </p:nvPicPr>
        <p:blipFill>
          <a:blip r:embed="rId3"/>
          <a:stretch>
            <a:fillRect/>
          </a:stretch>
        </p:blipFill>
        <p:spPr>
          <a:xfrm>
            <a:off x="5017770" y="1463040"/>
            <a:ext cx="3820652" cy="2136092"/>
          </a:xfrm>
          <a:prstGeom prst="rect">
            <a:avLst/>
          </a:prstGeom>
        </p:spPr>
      </p:pic>
      <p:sp>
        <p:nvSpPr>
          <p:cNvPr id="12" name="Text 2">
            <a:extLst>
              <a:ext uri="{FF2B5EF4-FFF2-40B4-BE49-F238E27FC236}">
                <a16:creationId xmlns:a16="http://schemas.microsoft.com/office/drawing/2014/main" id="{6D7E29AF-634E-88BD-ACD3-45EEBDE79BA1}"/>
              </a:ext>
            </a:extLst>
          </p:cNvPr>
          <p:cNvSpPr/>
          <p:nvPr/>
        </p:nvSpPr>
        <p:spPr>
          <a:xfrm>
            <a:off x="5017770" y="3507692"/>
            <a:ext cx="3441147" cy="365760"/>
          </a:xfrm>
          <a:prstGeom prst="rect">
            <a:avLst/>
          </a:prstGeom>
          <a:noFill/>
          <a:ln/>
        </p:spPr>
        <p:txBody>
          <a:bodyPr wrap="square" lIns="0" tIns="0" rIns="0" bIns="0" rtlCol="0" anchor="ctr"/>
          <a:lstStyle/>
          <a:p>
            <a:r>
              <a:rPr lang="en-US" sz="600" i="1" dirty="0">
                <a:solidFill>
                  <a:srgbClr val="8888BB"/>
                </a:solidFill>
                <a:latin typeface="Calibri" pitchFamily="34" charset="0"/>
                <a:ea typeface="Calibri" pitchFamily="34" charset="-122"/>
                <a:cs typeface="Calibri" pitchFamily="34" charset="-120"/>
              </a:rPr>
              <a:t>Source: https://tenor.com/view/shrek-i-like-my-privacy-privacy-gif-22158651</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52550"/>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600" b="1" kern="0" spc="400" dirty="0">
                <a:solidFill>
                  <a:srgbClr val="FFFFFF"/>
                </a:solidFill>
                <a:latin typeface="Trebuchet MS" pitchFamily="34" charset="0"/>
                <a:ea typeface="Trebuchet MS" pitchFamily="34" charset="-122"/>
                <a:cs typeface="Trebuchet MS" pitchFamily="34" charset="-120"/>
              </a:rPr>
              <a:t>CRITICAL REFLECTION</a:t>
            </a:r>
            <a:endParaRPr lang="en-US" sz="2600" dirty="0"/>
          </a:p>
        </p:txBody>
      </p:sp>
      <p:sp>
        <p:nvSpPr>
          <p:cNvPr id="3" name="Shape 1"/>
          <p:cNvSpPr/>
          <p:nvPr/>
        </p:nvSpPr>
        <p:spPr>
          <a:xfrm>
            <a:off x="457200" y="914400"/>
            <a:ext cx="3931920" cy="3200400"/>
          </a:xfrm>
          <a:prstGeom prst="rect">
            <a:avLst/>
          </a:prstGeom>
          <a:solidFill>
            <a:srgbClr val="2A2A55"/>
          </a:solidFill>
          <a:ln/>
          <a:effectLst>
            <a:outerShdw blurRad="76200" dist="25400" dir="8100000" algn="bl" rotWithShape="0">
              <a:srgbClr val="000000">
                <a:alpha val="20000"/>
              </a:srgbClr>
            </a:outerShdw>
          </a:effectLst>
        </p:spPr>
        <p:txBody>
          <a:bodyPr/>
          <a:lstStyle/>
          <a:p>
            <a:endParaRPr lang="en-GB"/>
          </a:p>
        </p:txBody>
      </p:sp>
      <p:sp>
        <p:nvSpPr>
          <p:cNvPr id="4" name="Shape 2"/>
          <p:cNvSpPr/>
          <p:nvPr/>
        </p:nvSpPr>
        <p:spPr>
          <a:xfrm>
            <a:off x="457200" y="914400"/>
            <a:ext cx="3931920" cy="54864"/>
          </a:xfrm>
          <a:prstGeom prst="rect">
            <a:avLst/>
          </a:prstGeom>
          <a:solidFill>
            <a:srgbClr val="50C878"/>
          </a:solidFill>
          <a:ln/>
        </p:spPr>
        <p:txBody>
          <a:bodyPr/>
          <a:lstStyle/>
          <a:p>
            <a:endParaRPr lang="en-GB"/>
          </a:p>
        </p:txBody>
      </p:sp>
      <p:sp>
        <p:nvSpPr>
          <p:cNvPr id="5" name="Text 3"/>
          <p:cNvSpPr/>
          <p:nvPr/>
        </p:nvSpPr>
        <p:spPr>
          <a:xfrm>
            <a:off x="594360" y="1051560"/>
            <a:ext cx="3657600" cy="411480"/>
          </a:xfrm>
          <a:prstGeom prst="rect">
            <a:avLst/>
          </a:prstGeom>
          <a:noFill/>
          <a:ln/>
        </p:spPr>
        <p:txBody>
          <a:bodyPr wrap="square" lIns="0" tIns="0" rIns="0" bIns="0" rtlCol="0" anchor="ctr"/>
          <a:lstStyle/>
          <a:p>
            <a:pPr marL="0" indent="0">
              <a:buNone/>
            </a:pPr>
            <a:r>
              <a:rPr lang="en-US" sz="1600" b="1" dirty="0">
                <a:solidFill>
                  <a:srgbClr val="80E8A0"/>
                </a:solidFill>
                <a:latin typeface="Trebuchet MS" pitchFamily="34" charset="0"/>
                <a:ea typeface="Trebuchet MS" pitchFamily="34" charset="-122"/>
                <a:cs typeface="Trebuchet MS" pitchFamily="34" charset="-120"/>
              </a:rPr>
              <a:t>What Went Well</a:t>
            </a:r>
            <a:endParaRPr lang="en-US" sz="1600" dirty="0"/>
          </a:p>
        </p:txBody>
      </p:sp>
      <p:sp>
        <p:nvSpPr>
          <p:cNvPr id="6" name="Text 4"/>
          <p:cNvSpPr/>
          <p:nvPr/>
        </p:nvSpPr>
        <p:spPr>
          <a:xfrm>
            <a:off x="594360" y="1508760"/>
            <a:ext cx="3611880" cy="2468880"/>
          </a:xfrm>
          <a:prstGeom prst="rect">
            <a:avLst/>
          </a:prstGeom>
          <a:noFill/>
          <a:ln/>
        </p:spPr>
        <p:txBody>
          <a:bodyPr wrap="square" rtlCol="0" anchor="t"/>
          <a:lstStyle/>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Pause menu feels clearer and easier to use</a:t>
            </a:r>
            <a:endParaRPr lang="en-US" sz="1200" dirty="0"/>
          </a:p>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Controller focus and navigation helped a lot</a:t>
            </a:r>
            <a:endParaRPr lang="en-US" sz="1200" dirty="0"/>
          </a:p>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Widget switcher made the menu feel more structured</a:t>
            </a:r>
            <a:endParaRPr lang="en-US" sz="1200" dirty="0"/>
          </a:p>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Learned a lot more about Unreal UI systems</a:t>
            </a:r>
            <a:endParaRPr lang="en-US" sz="1200" dirty="0"/>
          </a:p>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Better understanding of how controller input, focus, and menu structure work together</a:t>
            </a:r>
            <a:endParaRPr lang="en-US" sz="1200" dirty="0"/>
          </a:p>
        </p:txBody>
      </p:sp>
      <p:sp>
        <p:nvSpPr>
          <p:cNvPr id="7" name="Shape 5"/>
          <p:cNvSpPr/>
          <p:nvPr/>
        </p:nvSpPr>
        <p:spPr>
          <a:xfrm>
            <a:off x="4754880" y="891540"/>
            <a:ext cx="3931920" cy="3200400"/>
          </a:xfrm>
          <a:prstGeom prst="rect">
            <a:avLst/>
          </a:prstGeom>
          <a:solidFill>
            <a:srgbClr val="2A2A55"/>
          </a:solidFill>
          <a:ln/>
          <a:effectLst>
            <a:outerShdw blurRad="76200" dist="25400" dir="8100000" algn="bl" rotWithShape="0">
              <a:srgbClr val="000000">
                <a:alpha val="20000"/>
              </a:srgbClr>
            </a:outerShdw>
          </a:effectLst>
        </p:spPr>
        <p:txBody>
          <a:bodyPr/>
          <a:lstStyle/>
          <a:p>
            <a:endParaRPr lang="en-GB"/>
          </a:p>
        </p:txBody>
      </p:sp>
      <p:sp>
        <p:nvSpPr>
          <p:cNvPr id="8" name="Shape 6"/>
          <p:cNvSpPr/>
          <p:nvPr/>
        </p:nvSpPr>
        <p:spPr>
          <a:xfrm>
            <a:off x="4754880" y="914400"/>
            <a:ext cx="3931920" cy="54864"/>
          </a:xfrm>
          <a:prstGeom prst="rect">
            <a:avLst/>
          </a:prstGeom>
          <a:solidFill>
            <a:srgbClr val="E8A050"/>
          </a:solidFill>
          <a:ln/>
        </p:spPr>
        <p:txBody>
          <a:bodyPr/>
          <a:lstStyle/>
          <a:p>
            <a:endParaRPr lang="en-GB"/>
          </a:p>
        </p:txBody>
      </p:sp>
      <p:sp>
        <p:nvSpPr>
          <p:cNvPr id="9" name="Text 7"/>
          <p:cNvSpPr/>
          <p:nvPr/>
        </p:nvSpPr>
        <p:spPr>
          <a:xfrm>
            <a:off x="4892040" y="1051560"/>
            <a:ext cx="3657600" cy="411480"/>
          </a:xfrm>
          <a:prstGeom prst="rect">
            <a:avLst/>
          </a:prstGeom>
          <a:noFill/>
          <a:ln/>
        </p:spPr>
        <p:txBody>
          <a:bodyPr wrap="square" lIns="0" tIns="0" rIns="0" bIns="0" rtlCol="0" anchor="ctr"/>
          <a:lstStyle/>
          <a:p>
            <a:pPr marL="0" indent="0">
              <a:buNone/>
            </a:pPr>
            <a:r>
              <a:rPr lang="en-US" sz="1600" b="1" dirty="0">
                <a:solidFill>
                  <a:srgbClr val="FFD080"/>
                </a:solidFill>
                <a:latin typeface="Trebuchet MS" pitchFamily="34" charset="0"/>
                <a:ea typeface="Trebuchet MS" pitchFamily="34" charset="-122"/>
                <a:cs typeface="Trebuchet MS" pitchFamily="34" charset="-120"/>
              </a:rPr>
              <a:t>What Could Improve</a:t>
            </a:r>
            <a:endParaRPr lang="en-US" sz="1600" dirty="0"/>
          </a:p>
        </p:txBody>
      </p:sp>
      <p:sp>
        <p:nvSpPr>
          <p:cNvPr id="10" name="Text 8"/>
          <p:cNvSpPr/>
          <p:nvPr/>
        </p:nvSpPr>
        <p:spPr>
          <a:xfrm>
            <a:off x="4892040" y="1508760"/>
            <a:ext cx="3611880" cy="2468880"/>
          </a:xfrm>
          <a:prstGeom prst="rect">
            <a:avLst/>
          </a:prstGeom>
          <a:noFill/>
          <a:ln/>
        </p:spPr>
        <p:txBody>
          <a:bodyPr wrap="square" rtlCol="0" anchor="t"/>
          <a:lstStyle/>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Widget switcher could be more optimised</a:t>
            </a:r>
            <a:endParaRPr lang="en-US" sz="1200" dirty="0"/>
          </a:p>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Should have researched widget switcher more before building it</a:t>
            </a:r>
            <a:endParaRPr lang="en-US" sz="1200" dirty="0"/>
          </a:p>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Was more focused on making it work than making it strong</a:t>
            </a:r>
            <a:endParaRPr lang="en-US" sz="1200" dirty="0"/>
          </a:p>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Should have tested Steam controller support much earlier</a:t>
            </a:r>
            <a:endParaRPr lang="en-US" sz="1200" dirty="0"/>
          </a:p>
          <a:p>
            <a:pPr marL="342900" indent="-342900">
              <a:spcAft>
                <a:spcPts val="500"/>
              </a:spcAft>
              <a:buSzPct val="100000"/>
              <a:buChar char="•"/>
            </a:pPr>
            <a:r>
              <a:rPr lang="en-US" sz="1200" dirty="0">
                <a:solidFill>
                  <a:srgbClr val="B0B0D0"/>
                </a:solidFill>
                <a:latin typeface="Calibri" pitchFamily="34" charset="0"/>
                <a:ea typeface="Calibri" pitchFamily="34" charset="-122"/>
                <a:cs typeface="Calibri" pitchFamily="34" charset="-120"/>
              </a:rPr>
              <a:t>Adapting controls for Steam became a rushed, test earlier next time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1828800" y="3840480"/>
            <a:ext cx="6400800" cy="2286000"/>
          </a:xfrm>
          <a:prstGeom prst="ellipse">
            <a:avLst/>
          </a:prstGeom>
          <a:solidFill>
            <a:srgbClr val="3A2070">
              <a:alpha val="60000"/>
            </a:srgbClr>
          </a:solidFill>
          <a:ln w="12700">
            <a:solidFill>
              <a:srgbClr val="333333"/>
            </a:solidFill>
            <a:prstDash val="solid"/>
          </a:ln>
        </p:spPr>
        <p:txBody>
          <a:bodyPr/>
          <a:lstStyle/>
          <a:p>
            <a:endParaRPr lang="en-GB"/>
          </a:p>
        </p:txBody>
      </p:sp>
      <p:sp>
        <p:nvSpPr>
          <p:cNvPr id="3" name="Shape 1"/>
          <p:cNvSpPr/>
          <p:nvPr/>
        </p:nvSpPr>
        <p:spPr>
          <a:xfrm>
            <a:off x="4572000" y="4114800"/>
            <a:ext cx="7315200" cy="2286000"/>
          </a:xfrm>
          <a:prstGeom prst="ellipse">
            <a:avLst/>
          </a:prstGeom>
          <a:solidFill>
            <a:srgbClr val="2A3080">
              <a:alpha val="50000"/>
            </a:srgbClr>
          </a:solidFill>
          <a:ln w="12700">
            <a:solidFill>
              <a:srgbClr val="333333"/>
            </a:solidFill>
            <a:prstDash val="solid"/>
          </a:ln>
        </p:spPr>
        <p:txBody>
          <a:bodyPr/>
          <a:lstStyle/>
          <a:p>
            <a:endParaRPr lang="en-GB"/>
          </a:p>
        </p:txBody>
      </p:sp>
      <p:sp>
        <p:nvSpPr>
          <p:cNvPr id="4" name="Text 2"/>
          <p:cNvSpPr/>
          <p:nvPr/>
        </p:nvSpPr>
        <p:spPr>
          <a:xfrm>
            <a:off x="548640" y="274320"/>
            <a:ext cx="8229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0" cap="none" spc="50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 MORE TIME...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914400"/>
            <a:ext cx="5029200" cy="365760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Test Steam controller support much earlier. I left it too late, and it became rushed closer to submission. Starting Steam testing from the beginning would have caught the controller issues sooner.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Research the widget switcher more before building it</a:t>
            </a:r>
            <a:r>
              <a:rPr lang="en-US" sz="1300" dirty="0">
                <a:solidFill>
                  <a:srgbClr val="B0B0D0"/>
                </a:solidFill>
                <a:latin typeface="Calibri" pitchFamily="34" charset="0"/>
                <a:ea typeface="Calibri" pitchFamily="34" charset="-122"/>
                <a:cs typeface="Calibri" pitchFamily="34" charset="-120"/>
              </a:rPr>
              <a:t>,</a:t>
            </a: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 it wasn't very optimised. I was more focused on making it functional than making it as strong as it could have been.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Check tutorial version compatibility first, the remap system cost me a lot of time because the tutorial was for an older Unreal version. I'd verify that before following along next time.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lvl="0" indent="-342900">
              <a:spcAft>
                <a:spcPts val="800"/>
              </a:spcAft>
              <a:buSzPct val="100000"/>
              <a:buFontTx/>
              <a:buChar char="•"/>
            </a:pP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Spend more time turning the system into a reusable Unreal Engine plugin</a:t>
            </a:r>
            <a:r>
              <a:rPr lang="en-GB" sz="1300" dirty="0">
                <a:solidFill>
                  <a:srgbClr val="B0B0D0"/>
                </a:solidFill>
                <a:latin typeface="Calibri" pitchFamily="34" charset="0"/>
                <a:ea typeface="Calibri" pitchFamily="34" charset="-122"/>
                <a:cs typeface="Calibri" pitchFamily="34" charset="-120"/>
              </a:rPr>
              <a:t>. Right now, it works for Greedy Piggies,</a:t>
            </a:r>
            <a:r>
              <a:rPr kumimoji="0" lang="en-US" sz="1300" b="0" i="0" u="none" strike="noStrike" kern="1200" cap="none" spc="0" normalizeH="0" baseline="0" noProof="0" dirty="0">
                <a:ln>
                  <a:noFill/>
                </a:ln>
                <a:solidFill>
                  <a:srgbClr val="B0B0D0"/>
                </a:solidFill>
                <a:effectLst/>
                <a:uLnTx/>
                <a:uFillTx/>
                <a:latin typeface="Calibri" pitchFamily="34" charset="0"/>
                <a:ea typeface="Calibri" pitchFamily="34" charset="-122"/>
                <a:cs typeface="Calibri" pitchFamily="34" charset="-120"/>
              </a:rPr>
              <a:t> but could be made more general-purpose and modular.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C07FAE86-A8F3-1BF8-2B30-5FEF34A489EA}"/>
              </a:ext>
            </a:extLst>
          </p:cNvPr>
          <p:cNvPicPr>
            <a:picLocks noChangeAspect="1"/>
          </p:cNvPicPr>
          <p:nvPr/>
        </p:nvPicPr>
        <p:blipFill>
          <a:blip r:embed="rId3"/>
          <a:srcRect l="20346"/>
          <a:stretch>
            <a:fillRect/>
          </a:stretch>
        </p:blipFill>
        <p:spPr>
          <a:xfrm>
            <a:off x="5776545" y="914400"/>
            <a:ext cx="3034812" cy="2133600"/>
          </a:xfrm>
          <a:prstGeom prst="rect">
            <a:avLst/>
          </a:prstGeom>
        </p:spPr>
      </p:pic>
      <p:sp>
        <p:nvSpPr>
          <p:cNvPr id="9" name="Text 2">
            <a:extLst>
              <a:ext uri="{FF2B5EF4-FFF2-40B4-BE49-F238E27FC236}">
                <a16:creationId xmlns:a16="http://schemas.microsoft.com/office/drawing/2014/main" id="{3B232D75-A1B2-D194-EDA4-ED7014F11DC1}"/>
              </a:ext>
            </a:extLst>
          </p:cNvPr>
          <p:cNvSpPr/>
          <p:nvPr/>
        </p:nvSpPr>
        <p:spPr>
          <a:xfrm>
            <a:off x="5776545" y="2956560"/>
            <a:ext cx="3441147" cy="365760"/>
          </a:xfrm>
          <a:prstGeom prst="rect">
            <a:avLst/>
          </a:prstGeom>
          <a:noFill/>
          <a:ln/>
        </p:spPr>
        <p:txBody>
          <a:bodyPr wrap="square" lIns="0" tIns="0" rIns="0" bIns="0" rtlCol="0" anchor="ctr"/>
          <a:lstStyle/>
          <a:p>
            <a:r>
              <a:rPr lang="en-US" sz="600" i="1" dirty="0">
                <a:solidFill>
                  <a:srgbClr val="8888BB"/>
                </a:solidFill>
                <a:latin typeface="Calibri" pitchFamily="34" charset="0"/>
                <a:ea typeface="Calibri" pitchFamily="34" charset="-122"/>
                <a:cs typeface="Calibri" pitchFamily="34" charset="-120"/>
              </a:rPr>
              <a:t>Source: https://makeagif.com/gif/filthy-frank-its-time-to-stop-full-template-LIiOqE</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3E"/>
        </a:solidFill>
        <a:effectLst/>
      </p:bgPr>
    </p:bg>
    <p:spTree>
      <p:nvGrpSpPr>
        <p:cNvPr id="1" name=""/>
        <p:cNvGrpSpPr/>
        <p:nvPr/>
      </p:nvGrpSpPr>
      <p:grpSpPr>
        <a:xfrm>
          <a:off x="0" y="0"/>
          <a:ext cx="0" cy="0"/>
          <a:chOff x="0" y="0"/>
          <a:chExt cx="0" cy="0"/>
        </a:xfrm>
      </p:grpSpPr>
      <p:sp>
        <p:nvSpPr>
          <p:cNvPr id="2" name="Shape 0"/>
          <p:cNvSpPr/>
          <p:nvPr/>
        </p:nvSpPr>
        <p:spPr>
          <a:xfrm>
            <a:off x="-1828800" y="3840480"/>
            <a:ext cx="6400800" cy="2286000"/>
          </a:xfrm>
          <a:prstGeom prst="ellipse">
            <a:avLst/>
          </a:prstGeom>
          <a:solidFill>
            <a:srgbClr val="3A2070">
              <a:alpha val="60000"/>
            </a:srgbClr>
          </a:solidFill>
          <a:ln w="12700">
            <a:solidFill>
              <a:srgbClr val="333333"/>
            </a:solidFill>
            <a:prstDash val="solid"/>
          </a:ln>
        </p:spPr>
        <p:txBody>
          <a:bodyPr/>
          <a:lstStyle/>
          <a:p>
            <a:endParaRPr lang="en-GB"/>
          </a:p>
        </p:txBody>
      </p:sp>
      <p:sp>
        <p:nvSpPr>
          <p:cNvPr id="3" name="Shape 1"/>
          <p:cNvSpPr/>
          <p:nvPr/>
        </p:nvSpPr>
        <p:spPr>
          <a:xfrm>
            <a:off x="4572000" y="4114800"/>
            <a:ext cx="7315200" cy="2286000"/>
          </a:xfrm>
          <a:prstGeom prst="ellipse">
            <a:avLst/>
          </a:prstGeom>
          <a:solidFill>
            <a:srgbClr val="2A3080">
              <a:alpha val="50000"/>
            </a:srgbClr>
          </a:solidFill>
          <a:ln w="12700">
            <a:solidFill>
              <a:srgbClr val="333333"/>
            </a:solidFill>
            <a:prstDash val="solid"/>
          </a:ln>
        </p:spPr>
        <p:txBody>
          <a:bodyPr/>
          <a:lstStyle/>
          <a:p>
            <a:endParaRPr lang="en-GB"/>
          </a:p>
        </p:txBody>
      </p:sp>
      <p:sp>
        <p:nvSpPr>
          <p:cNvPr id="4" name="Text 2"/>
          <p:cNvSpPr/>
          <p:nvPr/>
        </p:nvSpPr>
        <p:spPr>
          <a:xfrm>
            <a:off x="914400" y="1097280"/>
            <a:ext cx="4114800" cy="914400"/>
          </a:xfrm>
          <a:prstGeom prst="rect">
            <a:avLst/>
          </a:prstGeom>
          <a:noFill/>
          <a:ln/>
        </p:spPr>
        <p:txBody>
          <a:bodyPr wrap="square" lIns="0" tIns="0" rIns="0" bIns="0" rtlCol="0" anchor="ctr"/>
          <a:lstStyle/>
          <a:p>
            <a:pPr marL="0" indent="0" algn="l">
              <a:buNone/>
            </a:pPr>
            <a:r>
              <a:rPr lang="en-US" sz="4000" b="1" kern="0" spc="600" dirty="0">
                <a:solidFill>
                  <a:srgbClr val="FFFFFF"/>
                </a:solidFill>
                <a:latin typeface="Trebuchet MS" pitchFamily="34" charset="0"/>
                <a:ea typeface="Trebuchet MS" pitchFamily="34" charset="-122"/>
                <a:cs typeface="Trebuchet MS" pitchFamily="34" charset="-120"/>
              </a:rPr>
              <a:t>THANK YOU</a:t>
            </a:r>
            <a:endParaRPr lang="en-US" sz="4000" dirty="0"/>
          </a:p>
        </p:txBody>
      </p:sp>
      <p:sp>
        <p:nvSpPr>
          <p:cNvPr id="5" name="Text 3"/>
          <p:cNvSpPr/>
          <p:nvPr/>
        </p:nvSpPr>
        <p:spPr>
          <a:xfrm>
            <a:off x="914400" y="2011680"/>
            <a:ext cx="3657600" cy="548640"/>
          </a:xfrm>
          <a:prstGeom prst="rect">
            <a:avLst/>
          </a:prstGeom>
          <a:noFill/>
          <a:ln/>
        </p:spPr>
        <p:txBody>
          <a:bodyPr wrap="square" lIns="0" tIns="0" rIns="0" bIns="0" rtlCol="0" anchor="ctr"/>
          <a:lstStyle/>
          <a:p>
            <a:pPr marL="0" indent="0" algn="l">
              <a:buNone/>
            </a:pPr>
            <a:r>
              <a:rPr lang="en-US" sz="2000" dirty="0">
                <a:solidFill>
                  <a:srgbClr val="B0B0D0"/>
                </a:solidFill>
                <a:latin typeface="Calibri" pitchFamily="34" charset="0"/>
                <a:ea typeface="Calibri" pitchFamily="34" charset="-122"/>
                <a:cs typeface="Calibri" pitchFamily="34" charset="-120"/>
              </a:rPr>
              <a:t>Any Questions?</a:t>
            </a:r>
            <a:endParaRPr lang="en-US" sz="2000" dirty="0"/>
          </a:p>
        </p:txBody>
      </p:sp>
      <p:sp>
        <p:nvSpPr>
          <p:cNvPr id="7" name="Text 4"/>
          <p:cNvSpPr/>
          <p:nvPr/>
        </p:nvSpPr>
        <p:spPr>
          <a:xfrm>
            <a:off x="914400" y="4114800"/>
            <a:ext cx="7315200" cy="457200"/>
          </a:xfrm>
          <a:prstGeom prst="rect">
            <a:avLst/>
          </a:prstGeom>
          <a:noFill/>
          <a:ln/>
        </p:spPr>
        <p:txBody>
          <a:bodyPr wrap="square" lIns="0" tIns="0" rIns="0" bIns="0" rtlCol="0" anchor="ctr"/>
          <a:lstStyle/>
          <a:p>
            <a:pPr marL="0" indent="0" algn="l">
              <a:buNone/>
            </a:pPr>
            <a:r>
              <a:rPr lang="en-US" sz="1100" dirty="0">
                <a:solidFill>
                  <a:srgbClr val="7777AA"/>
                </a:solidFill>
                <a:latin typeface="Calibri" pitchFamily="34" charset="0"/>
                <a:ea typeface="Calibri" pitchFamily="34" charset="-122"/>
                <a:cs typeface="Calibri" pitchFamily="34" charset="-120"/>
              </a:rPr>
              <a:t>Anna Rogers  |  2315276  |  annarogers04.github.io/WidgetSwitcher-API/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1561</Words>
  <Application>Microsoft Office PowerPoint</Application>
  <PresentationFormat>On-screen Show (16:9)</PresentationFormat>
  <Paragraphs>170</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Gamepad and UI System</dc:title>
  <dc:subject>PptxGenJS Presentation</dc:subject>
  <dc:creator>Anna Rogers</dc:creator>
  <cp:lastModifiedBy>Anna Rogers</cp:lastModifiedBy>
  <cp:revision>3</cp:revision>
  <dcterms:created xsi:type="dcterms:W3CDTF">2026-04-21T00:28:56Z</dcterms:created>
  <dcterms:modified xsi:type="dcterms:W3CDTF">2026-04-21T01:25:41Z</dcterms:modified>
</cp:coreProperties>
</file>